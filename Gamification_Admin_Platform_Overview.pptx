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68"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5" d="100"/>
          <a:sy n="155" d="100"/>
        </p:scale>
        <p:origin x="45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914400" y="1828800"/>
            <a:ext cx="731520" cy="5486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058400" cy="1097280"/>
          </a:xfrm>
          <a:prstGeom prst="rect">
            <a:avLst/>
          </a:prstGeom>
          <a:noFill/>
        </p:spPr>
        <p:txBody>
          <a:bodyPr wrap="square">
            <a:spAutoFit/>
          </a:bodyPr>
          <a:lstStyle/>
          <a:p>
            <a:pPr algn="l">
              <a:defRPr sz="4800" b="1">
                <a:solidFill>
                  <a:srgbClr val="FFFFFF"/>
                </a:solidFill>
                <a:latin typeface="Calibri"/>
              </a:defRPr>
            </a:pPr>
            <a:r>
              <a:t>Gamification Admin Platform</a:t>
            </a:r>
          </a:p>
        </p:txBody>
      </p:sp>
      <p:sp>
        <p:nvSpPr>
          <p:cNvPr id="4" name="TextBox 3"/>
          <p:cNvSpPr txBox="1"/>
          <p:nvPr/>
        </p:nvSpPr>
        <p:spPr>
          <a:xfrm>
            <a:off x="914400" y="3200400"/>
            <a:ext cx="8229600" cy="731520"/>
          </a:xfrm>
          <a:prstGeom prst="rect">
            <a:avLst/>
          </a:prstGeom>
          <a:noFill/>
        </p:spPr>
        <p:txBody>
          <a:bodyPr wrap="square">
            <a:spAutoFit/>
          </a:bodyPr>
          <a:lstStyle/>
          <a:p>
            <a:pPr algn="l">
              <a:defRPr sz="2400" b="0">
                <a:solidFill>
                  <a:srgbClr val="3B82F6"/>
                </a:solidFill>
                <a:latin typeface="Calibri"/>
              </a:defRPr>
            </a:pPr>
            <a:r>
              <a:t>Loyalty + Gamification for Retail Banking</a:t>
            </a:r>
          </a:p>
        </p:txBody>
      </p:sp>
      <p:sp>
        <p:nvSpPr>
          <p:cNvPr id="5" name="TextBox 4"/>
          <p:cNvSpPr txBox="1"/>
          <p:nvPr/>
        </p:nvSpPr>
        <p:spPr>
          <a:xfrm>
            <a:off x="914400" y="4114800"/>
            <a:ext cx="8229600" cy="457200"/>
          </a:xfrm>
          <a:prstGeom prst="rect">
            <a:avLst/>
          </a:prstGeom>
          <a:noFill/>
        </p:spPr>
        <p:txBody>
          <a:bodyPr wrap="square">
            <a:spAutoFit/>
          </a:bodyPr>
          <a:lstStyle/>
          <a:p>
            <a:pPr algn="l">
              <a:defRPr sz="1600" b="0">
                <a:solidFill>
                  <a:srgbClr val="CBD5E1"/>
                </a:solidFill>
                <a:latin typeface="Calibri"/>
              </a:defRPr>
            </a:pPr>
            <a:r>
              <a:t>Product Overview  •  May 2026</a:t>
            </a:r>
          </a:p>
        </p:txBody>
      </p:sp>
      <p:sp>
        <p:nvSpPr>
          <p:cNvPr id="8" name="TextBox 7"/>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1 / 15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276999"/>
          </a:xfrm>
          <a:prstGeom prst="rect">
            <a:avLst/>
          </a:prstGeom>
          <a:noFill/>
        </p:spPr>
        <p:txBody>
          <a:bodyPr wrap="square">
            <a:spAutoFit/>
          </a:bodyPr>
          <a:lstStyle/>
          <a:p>
            <a:pPr algn="l">
              <a:defRPr sz="1200" b="1">
                <a:solidFill>
                  <a:srgbClr val="3B82F6"/>
                </a:solidFill>
                <a:latin typeface="Calibri"/>
              </a:defRPr>
            </a:pPr>
            <a:r>
              <a:rPr dirty="0" smtClean="0"/>
              <a:t>THE </a:t>
            </a:r>
            <a:r>
              <a:rPr lang="en-US" dirty="0" smtClean="0"/>
              <a:t>OBSERVATION</a:t>
            </a:r>
            <a:endParaRPr dirty="0"/>
          </a:p>
        </p:txBody>
      </p:sp>
      <p:sp>
        <p:nvSpPr>
          <p:cNvPr id="17" name="TextBox 16"/>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2 / 15</a:t>
            </a:r>
          </a:p>
        </p:txBody>
      </p:sp>
      <p:pic>
        <p:nvPicPr>
          <p:cNvPr id="18" name="Picture 17"/>
          <p:cNvPicPr>
            <a:picLocks noChangeAspect="1"/>
          </p:cNvPicPr>
          <p:nvPr/>
        </p:nvPicPr>
        <p:blipFill rotWithShape="1">
          <a:blip r:embed="rId2"/>
          <a:srcRect b="84039"/>
          <a:stretch/>
        </p:blipFill>
        <p:spPr>
          <a:xfrm>
            <a:off x="1552639" y="1334813"/>
            <a:ext cx="4106382" cy="929405"/>
          </a:xfrm>
          <a:prstGeom prst="rect">
            <a:avLst/>
          </a:prstGeom>
        </p:spPr>
      </p:pic>
      <p:pic>
        <p:nvPicPr>
          <p:cNvPr id="20" name="Picture 19"/>
          <p:cNvPicPr>
            <a:picLocks noChangeAspect="1"/>
          </p:cNvPicPr>
          <p:nvPr/>
        </p:nvPicPr>
        <p:blipFill rotWithShape="1">
          <a:blip r:embed="rId2"/>
          <a:srcRect t="28376" b="59188"/>
          <a:stretch/>
        </p:blipFill>
        <p:spPr>
          <a:xfrm>
            <a:off x="2024946" y="3223478"/>
            <a:ext cx="4106382" cy="724156"/>
          </a:xfrm>
          <a:prstGeom prst="rect">
            <a:avLst/>
          </a:prstGeom>
        </p:spPr>
      </p:pic>
      <p:pic>
        <p:nvPicPr>
          <p:cNvPr id="21" name="Picture 20"/>
          <p:cNvPicPr>
            <a:picLocks noChangeAspect="1"/>
          </p:cNvPicPr>
          <p:nvPr/>
        </p:nvPicPr>
        <p:blipFill rotWithShape="1">
          <a:blip r:embed="rId2"/>
          <a:srcRect t="81282" b="6282"/>
          <a:stretch/>
        </p:blipFill>
        <p:spPr>
          <a:xfrm>
            <a:off x="1953459" y="2381639"/>
            <a:ext cx="4106382" cy="724156"/>
          </a:xfrm>
          <a:prstGeom prst="rect">
            <a:avLst/>
          </a:prstGeom>
        </p:spPr>
      </p:pic>
      <p:pic>
        <p:nvPicPr>
          <p:cNvPr id="23" name="Picture 22"/>
          <p:cNvPicPr>
            <a:picLocks noChangeAspect="1"/>
          </p:cNvPicPr>
          <p:nvPr/>
        </p:nvPicPr>
        <p:blipFill>
          <a:blip r:embed="rId3"/>
          <a:stretch>
            <a:fillRect/>
          </a:stretch>
        </p:blipFill>
        <p:spPr>
          <a:xfrm>
            <a:off x="4006650" y="2855017"/>
            <a:ext cx="4763165" cy="971686"/>
          </a:xfrm>
          <a:prstGeom prst="rect">
            <a:avLst/>
          </a:prstGeom>
        </p:spPr>
      </p:pic>
      <p:pic>
        <p:nvPicPr>
          <p:cNvPr id="24" name="Picture 23"/>
          <p:cNvPicPr>
            <a:picLocks noChangeAspect="1"/>
          </p:cNvPicPr>
          <p:nvPr/>
        </p:nvPicPr>
        <p:blipFill>
          <a:blip r:embed="rId4"/>
          <a:stretch>
            <a:fillRect/>
          </a:stretch>
        </p:blipFill>
        <p:spPr>
          <a:xfrm>
            <a:off x="2281851" y="3624377"/>
            <a:ext cx="4763165" cy="1486107"/>
          </a:xfrm>
          <a:prstGeom prst="rect">
            <a:avLst/>
          </a:prstGeom>
        </p:spPr>
      </p:pic>
      <p:pic>
        <p:nvPicPr>
          <p:cNvPr id="22" name="Picture 21"/>
          <p:cNvPicPr>
            <a:picLocks noChangeAspect="1"/>
          </p:cNvPicPr>
          <p:nvPr/>
        </p:nvPicPr>
        <p:blipFill>
          <a:blip r:embed="rId5"/>
          <a:stretch>
            <a:fillRect/>
          </a:stretch>
        </p:blipFill>
        <p:spPr>
          <a:xfrm>
            <a:off x="1886236" y="4332720"/>
            <a:ext cx="4763165" cy="943107"/>
          </a:xfrm>
          <a:prstGeom prst="rect">
            <a:avLst/>
          </a:prstGeom>
        </p:spPr>
      </p:pic>
      <p:pic>
        <p:nvPicPr>
          <p:cNvPr id="19" name="Picture 18"/>
          <p:cNvPicPr>
            <a:picLocks noChangeAspect="1"/>
          </p:cNvPicPr>
          <p:nvPr/>
        </p:nvPicPr>
        <p:blipFill>
          <a:blip r:embed="rId6"/>
          <a:stretch>
            <a:fillRect/>
          </a:stretch>
        </p:blipFill>
        <p:spPr>
          <a:xfrm>
            <a:off x="6306210" y="4504619"/>
            <a:ext cx="4734586" cy="1267002"/>
          </a:xfrm>
          <a:prstGeom prst="rect">
            <a:avLst/>
          </a:prstGeom>
        </p:spPr>
      </p:pic>
      <p:pic>
        <p:nvPicPr>
          <p:cNvPr id="25" name="Picture 24"/>
          <p:cNvPicPr>
            <a:picLocks noChangeAspect="1"/>
          </p:cNvPicPr>
          <p:nvPr/>
        </p:nvPicPr>
        <p:blipFill>
          <a:blip r:embed="rId7"/>
          <a:stretch>
            <a:fillRect/>
          </a:stretch>
        </p:blipFill>
        <p:spPr>
          <a:xfrm>
            <a:off x="5073338" y="1468425"/>
            <a:ext cx="4734586" cy="3238952"/>
          </a:xfrm>
          <a:prstGeom prst="rect">
            <a:avLst/>
          </a:prstGeom>
        </p:spPr>
      </p:pic>
      <p:sp>
        <p:nvSpPr>
          <p:cNvPr id="26" name="TextBox 25"/>
          <p:cNvSpPr txBox="1"/>
          <p:nvPr/>
        </p:nvSpPr>
        <p:spPr>
          <a:xfrm>
            <a:off x="914400" y="845156"/>
            <a:ext cx="8229600" cy="353943"/>
          </a:xfrm>
          <a:prstGeom prst="rect">
            <a:avLst/>
          </a:prstGeom>
          <a:noFill/>
        </p:spPr>
        <p:txBody>
          <a:bodyPr wrap="square">
            <a:spAutoFit/>
          </a:bodyPr>
          <a:lstStyle/>
          <a:p>
            <a:pPr algn="l">
              <a:defRPr sz="1700" b="0">
                <a:solidFill>
                  <a:srgbClr val="CBD5E1"/>
                </a:solidFill>
                <a:latin typeface="Calibri"/>
              </a:defRPr>
            </a:pPr>
            <a:r>
              <a:rPr lang="en-US" dirty="0" smtClean="0"/>
              <a:t>A lot of campaigns in the social media regarding the ruffle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THE VISION</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Loyalty Program Meets Gamification</a:t>
            </a:r>
          </a:p>
        </p:txBody>
      </p:sp>
      <p:sp>
        <p:nvSpPr>
          <p:cNvPr id="4" name="TextBox 3"/>
          <p:cNvSpPr txBox="1"/>
          <p:nvPr/>
        </p:nvSpPr>
        <p:spPr>
          <a:xfrm>
            <a:off x="914400" y="1828800"/>
            <a:ext cx="8229600" cy="1371600"/>
          </a:xfrm>
          <a:prstGeom prst="rect">
            <a:avLst/>
          </a:prstGeom>
          <a:noFill/>
        </p:spPr>
        <p:txBody>
          <a:bodyPr wrap="square">
            <a:spAutoFit/>
          </a:bodyPr>
          <a:lstStyle/>
          <a:p>
            <a:pPr algn="l">
              <a:defRPr sz="1700" b="0">
                <a:solidFill>
                  <a:srgbClr val="CBD5E1"/>
                </a:solidFill>
                <a:latin typeface="Calibri"/>
              </a:defRPr>
            </a:pPr>
            <a:r>
              <a:rPr dirty="0"/>
              <a:t>This project combines a traditional loyalty program with </a:t>
            </a:r>
            <a:r>
              <a:rPr dirty="0" err="1"/>
              <a:t>gamification</a:t>
            </a:r>
            <a:r>
              <a:rPr dirty="0"/>
              <a:t> mechanics. Instead of passive point collection, customers actively complete quests — real banking actions — to earn XP, climb leaderboards, and qualify for a grand prize. The result: deeper engagement, stronger deposits, and measurable revenue.</a:t>
            </a:r>
          </a:p>
        </p:txBody>
      </p:sp>
      <p:sp>
        <p:nvSpPr>
          <p:cNvPr id="5" name="Rounded Rectangle 4"/>
          <p:cNvSpPr/>
          <p:nvPr/>
        </p:nvSpPr>
        <p:spPr>
          <a:xfrm>
            <a:off x="914400" y="3657600"/>
            <a:ext cx="3200400" cy="2011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51560" y="3794760"/>
            <a:ext cx="1371600" cy="5486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023360"/>
            <a:ext cx="2926080" cy="365760"/>
          </a:xfrm>
          <a:prstGeom prst="rect">
            <a:avLst/>
          </a:prstGeom>
          <a:noFill/>
        </p:spPr>
        <p:txBody>
          <a:bodyPr wrap="square">
            <a:spAutoFit/>
          </a:bodyPr>
          <a:lstStyle/>
          <a:p>
            <a:pPr algn="l">
              <a:defRPr sz="2000" b="1">
                <a:solidFill>
                  <a:srgbClr val="FFFFFF"/>
                </a:solidFill>
                <a:latin typeface="Calibri"/>
              </a:defRPr>
            </a:pPr>
            <a:r>
              <a:t>Loyalty</a:t>
            </a:r>
          </a:p>
        </p:txBody>
      </p:sp>
      <p:sp>
        <p:nvSpPr>
          <p:cNvPr id="8" name="TextBox 7"/>
          <p:cNvSpPr txBox="1"/>
          <p:nvPr/>
        </p:nvSpPr>
        <p:spPr>
          <a:xfrm>
            <a:off x="1051560" y="4480560"/>
            <a:ext cx="2926080" cy="1097280"/>
          </a:xfrm>
          <a:prstGeom prst="rect">
            <a:avLst/>
          </a:prstGeom>
          <a:noFill/>
        </p:spPr>
        <p:txBody>
          <a:bodyPr wrap="square">
            <a:spAutoFit/>
          </a:bodyPr>
          <a:lstStyle/>
          <a:p>
            <a:pPr algn="l">
              <a:defRPr sz="1400" b="0">
                <a:solidFill>
                  <a:srgbClr val="CBD5E1"/>
                </a:solidFill>
                <a:latin typeface="Calibri"/>
              </a:defRPr>
            </a:pPr>
            <a:r>
              <a:t>Reward customers for</a:t>
            </a:r>
            <a:br/>
            <a:r>
              <a:t>repeat banking behaviour</a:t>
            </a:r>
            <a:br/>
            <a:r>
              <a:t>over the full year</a:t>
            </a:r>
          </a:p>
        </p:txBody>
      </p:sp>
      <p:sp>
        <p:nvSpPr>
          <p:cNvPr id="9" name="Rounded Rectangle 8"/>
          <p:cNvSpPr/>
          <p:nvPr/>
        </p:nvSpPr>
        <p:spPr>
          <a:xfrm>
            <a:off x="4389120" y="3657600"/>
            <a:ext cx="3200400" cy="2011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26280" y="3794760"/>
            <a:ext cx="1371600"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4023360"/>
            <a:ext cx="2926080" cy="365760"/>
          </a:xfrm>
          <a:prstGeom prst="rect">
            <a:avLst/>
          </a:prstGeom>
          <a:noFill/>
        </p:spPr>
        <p:txBody>
          <a:bodyPr wrap="square">
            <a:spAutoFit/>
          </a:bodyPr>
          <a:lstStyle/>
          <a:p>
            <a:pPr algn="l">
              <a:defRPr sz="2000" b="1">
                <a:solidFill>
                  <a:srgbClr val="FFFFFF"/>
                </a:solidFill>
                <a:latin typeface="Calibri"/>
              </a:defRPr>
            </a:pPr>
            <a:r>
              <a:t>Gamification</a:t>
            </a:r>
          </a:p>
        </p:txBody>
      </p:sp>
      <p:sp>
        <p:nvSpPr>
          <p:cNvPr id="12" name="TextBox 11"/>
          <p:cNvSpPr txBox="1"/>
          <p:nvPr/>
        </p:nvSpPr>
        <p:spPr>
          <a:xfrm>
            <a:off x="4526280" y="4480560"/>
            <a:ext cx="2926080" cy="1097280"/>
          </a:xfrm>
          <a:prstGeom prst="rect">
            <a:avLst/>
          </a:prstGeom>
          <a:noFill/>
        </p:spPr>
        <p:txBody>
          <a:bodyPr wrap="square">
            <a:spAutoFit/>
          </a:bodyPr>
          <a:lstStyle/>
          <a:p>
            <a:pPr algn="l">
              <a:defRPr sz="1400" b="0">
                <a:solidFill>
                  <a:srgbClr val="CBD5E1"/>
                </a:solidFill>
                <a:latin typeface="Calibri"/>
              </a:defRPr>
            </a:pPr>
            <a:r>
              <a:t>Quests, XP, tiers &amp;</a:t>
            </a:r>
            <a:br/>
            <a:r>
              <a:t>leaderboards make banking</a:t>
            </a:r>
            <a:br/>
            <a:r>
              <a:t>fun and competitive</a:t>
            </a:r>
          </a:p>
        </p:txBody>
      </p:sp>
      <p:sp>
        <p:nvSpPr>
          <p:cNvPr id="13" name="Rounded Rectangle 12"/>
          <p:cNvSpPr/>
          <p:nvPr/>
        </p:nvSpPr>
        <p:spPr>
          <a:xfrm>
            <a:off x="7863840" y="3657600"/>
            <a:ext cx="3200400" cy="2011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01000" y="3794760"/>
            <a:ext cx="137160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01000" y="4023360"/>
            <a:ext cx="2926080" cy="365760"/>
          </a:xfrm>
          <a:prstGeom prst="rect">
            <a:avLst/>
          </a:prstGeom>
          <a:noFill/>
        </p:spPr>
        <p:txBody>
          <a:bodyPr wrap="square">
            <a:spAutoFit/>
          </a:bodyPr>
          <a:lstStyle/>
          <a:p>
            <a:pPr algn="l">
              <a:defRPr sz="2000" b="1">
                <a:solidFill>
                  <a:srgbClr val="FFFFFF"/>
                </a:solidFill>
                <a:latin typeface="Calibri"/>
              </a:defRPr>
            </a:pPr>
            <a:r>
              <a:t>Grand Prize</a:t>
            </a:r>
          </a:p>
        </p:txBody>
      </p:sp>
      <p:sp>
        <p:nvSpPr>
          <p:cNvPr id="16" name="TextBox 15"/>
          <p:cNvSpPr txBox="1"/>
          <p:nvPr/>
        </p:nvSpPr>
        <p:spPr>
          <a:xfrm>
            <a:off x="8001000" y="4480560"/>
            <a:ext cx="2926080" cy="738664"/>
          </a:xfrm>
          <a:prstGeom prst="rect">
            <a:avLst/>
          </a:prstGeom>
          <a:noFill/>
        </p:spPr>
        <p:txBody>
          <a:bodyPr wrap="square">
            <a:spAutoFit/>
          </a:bodyPr>
          <a:lstStyle/>
          <a:p>
            <a:pPr algn="l">
              <a:defRPr sz="1400" b="0">
                <a:solidFill>
                  <a:srgbClr val="CBD5E1"/>
                </a:solidFill>
                <a:latin typeface="Calibri"/>
              </a:defRPr>
            </a:pPr>
            <a:r>
              <a:rPr dirty="0"/>
              <a:t>Year-long </a:t>
            </a:r>
            <a:r>
              <a:rPr dirty="0" smtClean="0"/>
              <a:t>quest</a:t>
            </a:r>
            <a:r>
              <a:rPr lang="en-US" dirty="0" smtClean="0"/>
              <a:t>s</a:t>
            </a:r>
            <a:r>
              <a:rPr dirty="0" smtClean="0"/>
              <a:t> </a:t>
            </a:r>
            <a:r>
              <a:rPr dirty="0"/>
              <a:t>journey</a:t>
            </a:r>
            <a:br>
              <a:rPr dirty="0"/>
            </a:br>
            <a:r>
              <a:rPr dirty="0"/>
              <a:t>culminating in a high-value</a:t>
            </a:r>
            <a:br>
              <a:rPr dirty="0"/>
            </a:br>
            <a:r>
              <a:rPr dirty="0"/>
              <a:t>prize draw for top players</a:t>
            </a:r>
          </a:p>
        </p:txBody>
      </p:sp>
      <p:sp>
        <p:nvSpPr>
          <p:cNvPr id="17" name="TextBox 16"/>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2 / 15</a:t>
            </a:r>
          </a:p>
        </p:txBody>
      </p:sp>
    </p:spTree>
    <p:extLst>
      <p:ext uri="{BB962C8B-B14F-4D97-AF65-F5344CB8AC3E}">
        <p14:creationId xmlns:p14="http://schemas.microsoft.com/office/powerpoint/2010/main" val="27774943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F59E0B"/>
                </a:solidFill>
                <a:latin typeface="Calibri"/>
              </a:defRPr>
            </a:pPr>
            <a:r>
              <a:t>REWARD STRUCTURE</a:t>
            </a:r>
          </a:p>
        </p:txBody>
      </p:sp>
      <p:sp>
        <p:nvSpPr>
          <p:cNvPr id="3" name="TextBox 2"/>
          <p:cNvSpPr txBox="1"/>
          <p:nvPr/>
        </p:nvSpPr>
        <p:spPr>
          <a:xfrm>
            <a:off x="914400" y="914400"/>
            <a:ext cx="10058400" cy="523220"/>
          </a:xfrm>
          <a:prstGeom prst="rect">
            <a:avLst/>
          </a:prstGeom>
          <a:noFill/>
        </p:spPr>
        <p:txBody>
          <a:bodyPr wrap="square">
            <a:spAutoFit/>
          </a:bodyPr>
          <a:lstStyle/>
          <a:p>
            <a:pPr algn="l">
              <a:defRPr sz="3200" b="1">
                <a:solidFill>
                  <a:srgbClr val="FFFFFF"/>
                </a:solidFill>
                <a:latin typeface="Calibri"/>
              </a:defRPr>
            </a:pPr>
            <a:r>
              <a:rPr sz="2800" dirty="0"/>
              <a:t>Redeem Small Prizes Anytime — Chase the Grand Prize All Year</a:t>
            </a:r>
          </a:p>
        </p:txBody>
      </p:sp>
      <p:sp>
        <p:nvSpPr>
          <p:cNvPr id="4" name="TextBox 3"/>
          <p:cNvSpPr txBox="1"/>
          <p:nvPr/>
        </p:nvSpPr>
        <p:spPr>
          <a:xfrm>
            <a:off x="914400" y="1541769"/>
            <a:ext cx="9144000" cy="731520"/>
          </a:xfrm>
          <a:prstGeom prst="rect">
            <a:avLst/>
          </a:prstGeom>
          <a:noFill/>
        </p:spPr>
        <p:txBody>
          <a:bodyPr wrap="square">
            <a:spAutoFit/>
          </a:bodyPr>
          <a:lstStyle/>
          <a:p>
            <a:pPr algn="l">
              <a:defRPr sz="1600" b="0">
                <a:solidFill>
                  <a:srgbClr val="CBD5E1"/>
                </a:solidFill>
                <a:latin typeface="Calibri"/>
              </a:defRPr>
            </a:pPr>
            <a:r>
              <a:rPr dirty="0"/>
              <a:t>Customers earn XP from every quest. They can instantly redeem points for small everyday prizes OR keep accumulating XP across the full year to qualify for the grand prize draw. This dual model keeps customers engaged daily while building towards a major reward.</a:t>
            </a:r>
          </a:p>
        </p:txBody>
      </p:sp>
      <p:sp>
        <p:nvSpPr>
          <p:cNvPr id="5" name="Rounded Rectangle 4"/>
          <p:cNvSpPr/>
          <p:nvPr/>
        </p:nvSpPr>
        <p:spPr>
          <a:xfrm>
            <a:off x="914400" y="2743200"/>
            <a:ext cx="4846320" cy="3200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278626" y="2935224"/>
            <a:ext cx="182880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063240"/>
            <a:ext cx="4389120" cy="457200"/>
          </a:xfrm>
          <a:prstGeom prst="rect">
            <a:avLst/>
          </a:prstGeom>
          <a:noFill/>
        </p:spPr>
        <p:txBody>
          <a:bodyPr wrap="square">
            <a:spAutoFit/>
          </a:bodyPr>
          <a:lstStyle/>
          <a:p>
            <a:pPr algn="l">
              <a:defRPr sz="2000" b="1">
                <a:solidFill>
                  <a:srgbClr val="FFFFFF"/>
                </a:solidFill>
                <a:latin typeface="Calibri"/>
              </a:defRPr>
            </a:pPr>
            <a:r>
              <a:t>Instant Small Prizes</a:t>
            </a:r>
          </a:p>
        </p:txBody>
      </p:sp>
      <p:sp>
        <p:nvSpPr>
          <p:cNvPr id="8" name="TextBox 7"/>
          <p:cNvSpPr txBox="1"/>
          <p:nvPr/>
        </p:nvSpPr>
        <p:spPr>
          <a:xfrm>
            <a:off x="1188720" y="3520440"/>
            <a:ext cx="4389120" cy="320040"/>
          </a:xfrm>
          <a:prstGeom prst="rect">
            <a:avLst/>
          </a:prstGeom>
          <a:noFill/>
        </p:spPr>
        <p:txBody>
          <a:bodyPr wrap="square">
            <a:spAutoFit/>
          </a:bodyPr>
          <a:lstStyle/>
          <a:p>
            <a:pPr algn="l">
              <a:defRPr sz="1300" b="0">
                <a:solidFill>
                  <a:srgbClr val="10B981"/>
                </a:solidFill>
                <a:latin typeface="Calibri"/>
              </a:defRPr>
            </a:pPr>
            <a:r>
              <a:t>Redeem XP anytime for tiny rewards</a:t>
            </a:r>
          </a:p>
        </p:txBody>
      </p:sp>
      <p:sp>
        <p:nvSpPr>
          <p:cNvPr id="9" name="TextBox 8"/>
          <p:cNvSpPr txBox="1"/>
          <p:nvPr/>
        </p:nvSpPr>
        <p:spPr>
          <a:xfrm>
            <a:off x="1188720" y="3931920"/>
            <a:ext cx="4389120" cy="274320"/>
          </a:xfrm>
          <a:prstGeom prst="rect">
            <a:avLst/>
          </a:prstGeom>
          <a:noFill/>
        </p:spPr>
        <p:txBody>
          <a:bodyPr wrap="square">
            <a:spAutoFit/>
          </a:bodyPr>
          <a:lstStyle/>
          <a:p>
            <a:pPr algn="l">
              <a:defRPr sz="1200" b="0">
                <a:solidFill>
                  <a:srgbClr val="CBD5E1"/>
                </a:solidFill>
                <a:latin typeface="Calibri"/>
              </a:defRPr>
            </a:pPr>
            <a:r>
              <a:t>●  Free coffee voucher (e.g. Starbucks)</a:t>
            </a:r>
          </a:p>
        </p:txBody>
      </p:sp>
      <p:sp>
        <p:nvSpPr>
          <p:cNvPr id="10" name="TextBox 9"/>
          <p:cNvSpPr txBox="1"/>
          <p:nvPr/>
        </p:nvSpPr>
        <p:spPr>
          <a:xfrm>
            <a:off x="1188720" y="4251959"/>
            <a:ext cx="4389120" cy="274320"/>
          </a:xfrm>
          <a:prstGeom prst="rect">
            <a:avLst/>
          </a:prstGeom>
          <a:noFill/>
        </p:spPr>
        <p:txBody>
          <a:bodyPr wrap="square">
            <a:spAutoFit/>
          </a:bodyPr>
          <a:lstStyle/>
          <a:p>
            <a:pPr algn="l">
              <a:defRPr sz="1200" b="0">
                <a:solidFill>
                  <a:srgbClr val="CBD5E1"/>
                </a:solidFill>
                <a:latin typeface="Calibri"/>
              </a:defRPr>
            </a:pPr>
            <a:r>
              <a:t>●  Small merchant discount coupons</a:t>
            </a:r>
          </a:p>
        </p:txBody>
      </p:sp>
      <p:sp>
        <p:nvSpPr>
          <p:cNvPr id="11" name="TextBox 10"/>
          <p:cNvSpPr txBox="1"/>
          <p:nvPr/>
        </p:nvSpPr>
        <p:spPr>
          <a:xfrm>
            <a:off x="1188720" y="4572000"/>
            <a:ext cx="4389120" cy="274320"/>
          </a:xfrm>
          <a:prstGeom prst="rect">
            <a:avLst/>
          </a:prstGeom>
          <a:noFill/>
        </p:spPr>
        <p:txBody>
          <a:bodyPr wrap="square">
            <a:spAutoFit/>
          </a:bodyPr>
          <a:lstStyle/>
          <a:p>
            <a:pPr algn="l">
              <a:defRPr sz="1200" b="0">
                <a:solidFill>
                  <a:srgbClr val="CBD5E1"/>
                </a:solidFill>
                <a:latin typeface="Calibri"/>
              </a:defRPr>
            </a:pPr>
            <a:r>
              <a:t>●  Mobile top-up credits</a:t>
            </a:r>
          </a:p>
        </p:txBody>
      </p:sp>
      <p:sp>
        <p:nvSpPr>
          <p:cNvPr id="12" name="TextBox 11"/>
          <p:cNvSpPr txBox="1"/>
          <p:nvPr/>
        </p:nvSpPr>
        <p:spPr>
          <a:xfrm>
            <a:off x="1188720" y="4892040"/>
            <a:ext cx="4389120" cy="274320"/>
          </a:xfrm>
          <a:prstGeom prst="rect">
            <a:avLst/>
          </a:prstGeom>
          <a:noFill/>
        </p:spPr>
        <p:txBody>
          <a:bodyPr wrap="square">
            <a:spAutoFit/>
          </a:bodyPr>
          <a:lstStyle/>
          <a:p>
            <a:pPr algn="l">
              <a:defRPr sz="1200" b="0">
                <a:solidFill>
                  <a:srgbClr val="CBD5E1"/>
                </a:solidFill>
                <a:latin typeface="Calibri"/>
              </a:defRPr>
            </a:pPr>
            <a:r>
              <a:t>●  Movie or event ticket discounts</a:t>
            </a:r>
          </a:p>
        </p:txBody>
      </p:sp>
      <p:sp>
        <p:nvSpPr>
          <p:cNvPr id="13" name="TextBox 12"/>
          <p:cNvSpPr txBox="1"/>
          <p:nvPr/>
        </p:nvSpPr>
        <p:spPr>
          <a:xfrm>
            <a:off x="1188720" y="5212079"/>
            <a:ext cx="4389120" cy="274320"/>
          </a:xfrm>
          <a:prstGeom prst="rect">
            <a:avLst/>
          </a:prstGeom>
          <a:noFill/>
        </p:spPr>
        <p:txBody>
          <a:bodyPr wrap="square">
            <a:spAutoFit/>
          </a:bodyPr>
          <a:lstStyle/>
          <a:p>
            <a:pPr algn="l">
              <a:defRPr sz="1200" b="0">
                <a:solidFill>
                  <a:srgbClr val="CBD5E1"/>
                </a:solidFill>
                <a:latin typeface="Calibri"/>
              </a:defRPr>
            </a:pPr>
            <a:r>
              <a:t>●  Cashback on next card transaction</a:t>
            </a:r>
          </a:p>
        </p:txBody>
      </p:sp>
      <p:sp>
        <p:nvSpPr>
          <p:cNvPr id="14" name="TextBox 13"/>
          <p:cNvSpPr txBox="1"/>
          <p:nvPr/>
        </p:nvSpPr>
        <p:spPr>
          <a:xfrm>
            <a:off x="1188720" y="5532120"/>
            <a:ext cx="4389120" cy="274320"/>
          </a:xfrm>
          <a:prstGeom prst="rect">
            <a:avLst/>
          </a:prstGeom>
          <a:noFill/>
        </p:spPr>
        <p:txBody>
          <a:bodyPr wrap="square">
            <a:spAutoFit/>
          </a:bodyPr>
          <a:lstStyle/>
          <a:p>
            <a:pPr algn="l">
              <a:defRPr sz="1200" b="0">
                <a:solidFill>
                  <a:srgbClr val="CBD5E1"/>
                </a:solidFill>
                <a:latin typeface="Calibri"/>
              </a:defRPr>
            </a:pPr>
            <a:r>
              <a:t>●  Digital gift cards (small value)</a:t>
            </a:r>
          </a:p>
        </p:txBody>
      </p:sp>
      <p:sp>
        <p:nvSpPr>
          <p:cNvPr id="15" name="Rounded Rectangle 14"/>
          <p:cNvSpPr/>
          <p:nvPr/>
        </p:nvSpPr>
        <p:spPr>
          <a:xfrm>
            <a:off x="6126480" y="2743200"/>
            <a:ext cx="4846320" cy="3200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84569" y="2930990"/>
            <a:ext cx="1828800"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3063240"/>
            <a:ext cx="4389120" cy="457200"/>
          </a:xfrm>
          <a:prstGeom prst="rect">
            <a:avLst/>
          </a:prstGeom>
          <a:noFill/>
        </p:spPr>
        <p:txBody>
          <a:bodyPr wrap="square">
            <a:spAutoFit/>
          </a:bodyPr>
          <a:lstStyle/>
          <a:p>
            <a:pPr algn="l">
              <a:defRPr sz="2000" b="1">
                <a:solidFill>
                  <a:srgbClr val="FFFFFF"/>
                </a:solidFill>
                <a:latin typeface="Calibri"/>
              </a:defRPr>
            </a:pPr>
            <a:r>
              <a:t>Grand Prize (Year-End)</a:t>
            </a:r>
          </a:p>
        </p:txBody>
      </p:sp>
      <p:sp>
        <p:nvSpPr>
          <p:cNvPr id="18" name="TextBox 17"/>
          <p:cNvSpPr txBox="1"/>
          <p:nvPr/>
        </p:nvSpPr>
        <p:spPr>
          <a:xfrm>
            <a:off x="6400800" y="3520440"/>
            <a:ext cx="4389120" cy="320040"/>
          </a:xfrm>
          <a:prstGeom prst="rect">
            <a:avLst/>
          </a:prstGeom>
          <a:noFill/>
        </p:spPr>
        <p:txBody>
          <a:bodyPr wrap="square">
            <a:spAutoFit/>
          </a:bodyPr>
          <a:lstStyle/>
          <a:p>
            <a:pPr algn="l">
              <a:defRPr sz="1300" b="0">
                <a:solidFill>
                  <a:srgbClr val="F59E0B"/>
                </a:solidFill>
                <a:latin typeface="Calibri"/>
              </a:defRPr>
            </a:pPr>
            <a:r>
              <a:t>Keep XP all year to enter the big draw</a:t>
            </a:r>
          </a:p>
        </p:txBody>
      </p:sp>
      <p:sp>
        <p:nvSpPr>
          <p:cNvPr id="19" name="TextBox 18"/>
          <p:cNvSpPr txBox="1"/>
          <p:nvPr/>
        </p:nvSpPr>
        <p:spPr>
          <a:xfrm>
            <a:off x="6400800" y="3931920"/>
            <a:ext cx="4389120" cy="274320"/>
          </a:xfrm>
          <a:prstGeom prst="rect">
            <a:avLst/>
          </a:prstGeom>
          <a:noFill/>
        </p:spPr>
        <p:txBody>
          <a:bodyPr wrap="square">
            <a:spAutoFit/>
          </a:bodyPr>
          <a:lstStyle/>
          <a:p>
            <a:pPr algn="l">
              <a:defRPr sz="1200" b="0">
                <a:solidFill>
                  <a:srgbClr val="CBD5E1"/>
                </a:solidFill>
                <a:latin typeface="Calibri"/>
              </a:defRPr>
            </a:pPr>
            <a:r>
              <a:t>●  Complete many quests across the year</a:t>
            </a:r>
          </a:p>
        </p:txBody>
      </p:sp>
      <p:sp>
        <p:nvSpPr>
          <p:cNvPr id="20" name="TextBox 19"/>
          <p:cNvSpPr txBox="1"/>
          <p:nvPr/>
        </p:nvSpPr>
        <p:spPr>
          <a:xfrm>
            <a:off x="6400800" y="4251959"/>
            <a:ext cx="4389120" cy="274320"/>
          </a:xfrm>
          <a:prstGeom prst="rect">
            <a:avLst/>
          </a:prstGeom>
          <a:noFill/>
        </p:spPr>
        <p:txBody>
          <a:bodyPr wrap="square">
            <a:spAutoFit/>
          </a:bodyPr>
          <a:lstStyle/>
          <a:p>
            <a:pPr algn="l">
              <a:defRPr sz="1200" b="0">
                <a:solidFill>
                  <a:srgbClr val="CBD5E1"/>
                </a:solidFill>
                <a:latin typeface="Calibri"/>
              </a:defRPr>
            </a:pPr>
            <a:r>
              <a:t>●  XP accumulates toward Diamond tier</a:t>
            </a:r>
          </a:p>
        </p:txBody>
      </p:sp>
      <p:sp>
        <p:nvSpPr>
          <p:cNvPr id="21" name="TextBox 20"/>
          <p:cNvSpPr txBox="1"/>
          <p:nvPr/>
        </p:nvSpPr>
        <p:spPr>
          <a:xfrm>
            <a:off x="6400800" y="4572000"/>
            <a:ext cx="4389120" cy="274320"/>
          </a:xfrm>
          <a:prstGeom prst="rect">
            <a:avLst/>
          </a:prstGeom>
          <a:noFill/>
        </p:spPr>
        <p:txBody>
          <a:bodyPr wrap="square">
            <a:spAutoFit/>
          </a:bodyPr>
          <a:lstStyle/>
          <a:p>
            <a:pPr algn="l">
              <a:defRPr sz="1200" b="0">
                <a:solidFill>
                  <a:srgbClr val="CBD5E1"/>
                </a:solidFill>
                <a:latin typeface="Calibri"/>
              </a:defRPr>
            </a:pPr>
            <a:r>
              <a:t>●  Top-tier customers enter grand draw</a:t>
            </a:r>
          </a:p>
        </p:txBody>
      </p:sp>
      <p:sp>
        <p:nvSpPr>
          <p:cNvPr id="22" name="TextBox 21"/>
          <p:cNvSpPr txBox="1"/>
          <p:nvPr/>
        </p:nvSpPr>
        <p:spPr>
          <a:xfrm>
            <a:off x="6400800" y="4892040"/>
            <a:ext cx="4389120" cy="274320"/>
          </a:xfrm>
          <a:prstGeom prst="rect">
            <a:avLst/>
          </a:prstGeom>
          <a:noFill/>
        </p:spPr>
        <p:txBody>
          <a:bodyPr wrap="square">
            <a:spAutoFit/>
          </a:bodyPr>
          <a:lstStyle/>
          <a:p>
            <a:pPr algn="l">
              <a:defRPr sz="1200" b="0">
                <a:solidFill>
                  <a:srgbClr val="CBD5E1"/>
                </a:solidFill>
                <a:latin typeface="Calibri"/>
              </a:defRPr>
            </a:pPr>
            <a:r>
              <a:t>●  High-value prize (car, travel, cash)</a:t>
            </a:r>
          </a:p>
        </p:txBody>
      </p:sp>
      <p:sp>
        <p:nvSpPr>
          <p:cNvPr id="23" name="TextBox 22"/>
          <p:cNvSpPr txBox="1"/>
          <p:nvPr/>
        </p:nvSpPr>
        <p:spPr>
          <a:xfrm>
            <a:off x="6400800" y="5212079"/>
            <a:ext cx="4389120" cy="274320"/>
          </a:xfrm>
          <a:prstGeom prst="rect">
            <a:avLst/>
          </a:prstGeom>
          <a:noFill/>
        </p:spPr>
        <p:txBody>
          <a:bodyPr wrap="square">
            <a:spAutoFit/>
          </a:bodyPr>
          <a:lstStyle/>
          <a:p>
            <a:pPr algn="l">
              <a:defRPr sz="1200" b="0">
                <a:solidFill>
                  <a:srgbClr val="CBD5E1"/>
                </a:solidFill>
                <a:latin typeface="Calibri"/>
              </a:defRPr>
            </a:pPr>
            <a:r>
              <a:t>●  Creates a powerful retention loop</a:t>
            </a:r>
          </a:p>
        </p:txBody>
      </p:sp>
      <p:sp>
        <p:nvSpPr>
          <p:cNvPr id="24" name="TextBox 23"/>
          <p:cNvSpPr txBox="1"/>
          <p:nvPr/>
        </p:nvSpPr>
        <p:spPr>
          <a:xfrm>
            <a:off x="6400800" y="5532120"/>
            <a:ext cx="4389120" cy="274320"/>
          </a:xfrm>
          <a:prstGeom prst="rect">
            <a:avLst/>
          </a:prstGeom>
          <a:noFill/>
        </p:spPr>
        <p:txBody>
          <a:bodyPr wrap="square">
            <a:spAutoFit/>
          </a:bodyPr>
          <a:lstStyle/>
          <a:p>
            <a:pPr algn="l">
              <a:defRPr sz="1200" b="0">
                <a:solidFill>
                  <a:srgbClr val="CBD5E1"/>
                </a:solidFill>
                <a:latin typeface="Calibri"/>
              </a:defRPr>
            </a:pPr>
            <a:r>
              <a:t>●  Drives sustained banking behaviour</a:t>
            </a:r>
          </a:p>
        </p:txBody>
      </p:sp>
      <p:sp>
        <p:nvSpPr>
          <p:cNvPr id="25" name="Rounded Rectangle 24"/>
          <p:cNvSpPr/>
          <p:nvPr/>
        </p:nvSpPr>
        <p:spPr>
          <a:xfrm>
            <a:off x="914400" y="6126480"/>
            <a:ext cx="1033272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88720" y="6172200"/>
            <a:ext cx="9601200" cy="365760"/>
          </a:xfrm>
          <a:prstGeom prst="rect">
            <a:avLst/>
          </a:prstGeom>
          <a:noFill/>
        </p:spPr>
        <p:txBody>
          <a:bodyPr wrap="square">
            <a:spAutoFit/>
          </a:bodyPr>
          <a:lstStyle/>
          <a:p>
            <a:pPr algn="l">
              <a:defRPr sz="1400" b="1">
                <a:solidFill>
                  <a:srgbClr val="3B82F6"/>
                </a:solidFill>
                <a:latin typeface="Calibri"/>
              </a:defRPr>
            </a:pPr>
            <a:r>
              <a:t>Key: Customers choose — spend points on small rewards now, or save them for the grand prize.</a:t>
            </a:r>
          </a:p>
        </p:txBody>
      </p:sp>
      <p:sp>
        <p:nvSpPr>
          <p:cNvPr id="27" name="TextBox 26"/>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3 / 15</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10B981"/>
                </a:solidFill>
                <a:latin typeface="Calibri"/>
              </a:defRPr>
            </a:pPr>
            <a:r>
              <a:t>DEPOSITS &amp; SAVINGS</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200" b="1">
                <a:solidFill>
                  <a:srgbClr val="FFFFFF"/>
                </a:solidFill>
                <a:latin typeface="Calibri"/>
              </a:defRPr>
            </a:pPr>
            <a:r>
              <a:t>Grow Fixed Deposits &amp; Savings to Reach the Grand Prize</a:t>
            </a:r>
          </a:p>
        </p:txBody>
      </p:sp>
      <p:sp>
        <p:nvSpPr>
          <p:cNvPr id="4" name="TextBox 3"/>
          <p:cNvSpPr txBox="1"/>
          <p:nvPr/>
        </p:nvSpPr>
        <p:spPr>
          <a:xfrm>
            <a:off x="914400" y="1737360"/>
            <a:ext cx="9144000" cy="914400"/>
          </a:xfrm>
          <a:prstGeom prst="rect">
            <a:avLst/>
          </a:prstGeom>
          <a:noFill/>
        </p:spPr>
        <p:txBody>
          <a:bodyPr wrap="square">
            <a:spAutoFit/>
          </a:bodyPr>
          <a:lstStyle/>
          <a:p>
            <a:pPr algn="l">
              <a:defRPr sz="1600" b="0">
                <a:solidFill>
                  <a:srgbClr val="CBD5E1"/>
                </a:solidFill>
                <a:latin typeface="Calibri"/>
              </a:defRPr>
            </a:pPr>
            <a:r>
              <a:t>A core strategy: quests encourage customers to increase their fixed deposits and savings balances. The more a customer saves, the more XP they earn — directly linking deposit growth to grand prize eligibility.</a:t>
            </a:r>
          </a:p>
        </p:txBody>
      </p:sp>
      <p:sp>
        <p:nvSpPr>
          <p:cNvPr id="5" name="Rounded Rectangle 4"/>
          <p:cNvSpPr/>
          <p:nvPr/>
        </p:nvSpPr>
        <p:spPr>
          <a:xfrm>
            <a:off x="914400" y="2926080"/>
            <a:ext cx="5029200" cy="2926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188720" y="3186684"/>
            <a:ext cx="1828800" cy="5486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3291840"/>
            <a:ext cx="4572000" cy="365760"/>
          </a:xfrm>
          <a:prstGeom prst="rect">
            <a:avLst/>
          </a:prstGeom>
          <a:noFill/>
        </p:spPr>
        <p:txBody>
          <a:bodyPr wrap="square">
            <a:spAutoFit/>
          </a:bodyPr>
          <a:lstStyle/>
          <a:p>
            <a:pPr algn="l">
              <a:defRPr sz="2000" b="1">
                <a:solidFill>
                  <a:srgbClr val="FFFFFF"/>
                </a:solidFill>
                <a:latin typeface="Calibri"/>
              </a:defRPr>
            </a:pPr>
            <a:r>
              <a:t>Fixed Deposit Quests</a:t>
            </a:r>
          </a:p>
        </p:txBody>
      </p:sp>
      <p:sp>
        <p:nvSpPr>
          <p:cNvPr id="8" name="TextBox 7"/>
          <p:cNvSpPr txBox="1"/>
          <p:nvPr/>
        </p:nvSpPr>
        <p:spPr>
          <a:xfrm>
            <a:off x="1143000" y="3794760"/>
            <a:ext cx="4572000" cy="365760"/>
          </a:xfrm>
          <a:prstGeom prst="rect">
            <a:avLst/>
          </a:prstGeom>
          <a:noFill/>
        </p:spPr>
        <p:txBody>
          <a:bodyPr wrap="square">
            <a:spAutoFit/>
          </a:bodyPr>
          <a:lstStyle/>
          <a:p>
            <a:pPr algn="l">
              <a:defRPr sz="1400" b="0">
                <a:solidFill>
                  <a:srgbClr val="CBD5E1"/>
                </a:solidFill>
                <a:latin typeface="Calibri"/>
              </a:defRPr>
            </a:pPr>
            <a:r>
              <a:t>→  Open a new fixed deposit account</a:t>
            </a:r>
          </a:p>
        </p:txBody>
      </p:sp>
      <p:sp>
        <p:nvSpPr>
          <p:cNvPr id="9" name="TextBox 8"/>
          <p:cNvSpPr txBox="1"/>
          <p:nvPr/>
        </p:nvSpPr>
        <p:spPr>
          <a:xfrm>
            <a:off x="1143000" y="4251960"/>
            <a:ext cx="4572000" cy="365760"/>
          </a:xfrm>
          <a:prstGeom prst="rect">
            <a:avLst/>
          </a:prstGeom>
          <a:noFill/>
        </p:spPr>
        <p:txBody>
          <a:bodyPr wrap="square">
            <a:spAutoFit/>
          </a:bodyPr>
          <a:lstStyle/>
          <a:p>
            <a:pPr algn="l">
              <a:defRPr sz="1400" b="0">
                <a:solidFill>
                  <a:srgbClr val="CBD5E1"/>
                </a:solidFill>
                <a:latin typeface="Calibri"/>
              </a:defRPr>
            </a:pPr>
            <a:r>
              <a:t>→  Increase FD balance by 5K or more</a:t>
            </a:r>
          </a:p>
        </p:txBody>
      </p:sp>
      <p:sp>
        <p:nvSpPr>
          <p:cNvPr id="10" name="TextBox 9"/>
          <p:cNvSpPr txBox="1"/>
          <p:nvPr/>
        </p:nvSpPr>
        <p:spPr>
          <a:xfrm>
            <a:off x="1143000" y="4709160"/>
            <a:ext cx="4572000" cy="365760"/>
          </a:xfrm>
          <a:prstGeom prst="rect">
            <a:avLst/>
          </a:prstGeom>
          <a:noFill/>
        </p:spPr>
        <p:txBody>
          <a:bodyPr wrap="square">
            <a:spAutoFit/>
          </a:bodyPr>
          <a:lstStyle/>
          <a:p>
            <a:pPr algn="l">
              <a:defRPr sz="1400" b="0">
                <a:solidFill>
                  <a:srgbClr val="CBD5E1"/>
                </a:solidFill>
                <a:latin typeface="Calibri"/>
              </a:defRPr>
            </a:pPr>
            <a:r>
              <a:t>→  Renew an existing FD at maturity</a:t>
            </a:r>
          </a:p>
        </p:txBody>
      </p:sp>
      <p:sp>
        <p:nvSpPr>
          <p:cNvPr id="11" name="TextBox 10"/>
          <p:cNvSpPr txBox="1"/>
          <p:nvPr/>
        </p:nvSpPr>
        <p:spPr>
          <a:xfrm>
            <a:off x="1143000" y="5166360"/>
            <a:ext cx="4572000" cy="365760"/>
          </a:xfrm>
          <a:prstGeom prst="rect">
            <a:avLst/>
          </a:prstGeom>
          <a:noFill/>
        </p:spPr>
        <p:txBody>
          <a:bodyPr wrap="square">
            <a:spAutoFit/>
          </a:bodyPr>
          <a:lstStyle/>
          <a:p>
            <a:pPr algn="l">
              <a:defRPr sz="1400" b="0">
                <a:solidFill>
                  <a:srgbClr val="CBD5E1"/>
                </a:solidFill>
                <a:latin typeface="Calibri"/>
              </a:defRPr>
            </a:pPr>
            <a:r>
              <a:t>→  Maintain FD for 6+ months bonus XP</a:t>
            </a:r>
          </a:p>
        </p:txBody>
      </p:sp>
      <p:sp>
        <p:nvSpPr>
          <p:cNvPr id="12" name="Rounded Rectangle 11"/>
          <p:cNvSpPr/>
          <p:nvPr/>
        </p:nvSpPr>
        <p:spPr>
          <a:xfrm>
            <a:off x="6217920" y="2926080"/>
            <a:ext cx="5029200" cy="2926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92240" y="3177479"/>
            <a:ext cx="182880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3291840"/>
            <a:ext cx="4572000" cy="365760"/>
          </a:xfrm>
          <a:prstGeom prst="rect">
            <a:avLst/>
          </a:prstGeom>
          <a:noFill/>
        </p:spPr>
        <p:txBody>
          <a:bodyPr wrap="square">
            <a:spAutoFit/>
          </a:bodyPr>
          <a:lstStyle/>
          <a:p>
            <a:pPr algn="l">
              <a:defRPr sz="2000" b="1">
                <a:solidFill>
                  <a:srgbClr val="FFFFFF"/>
                </a:solidFill>
                <a:latin typeface="Calibri"/>
              </a:defRPr>
            </a:pPr>
            <a:r>
              <a:t>Savings Account Quests</a:t>
            </a:r>
          </a:p>
        </p:txBody>
      </p:sp>
      <p:sp>
        <p:nvSpPr>
          <p:cNvPr id="15" name="TextBox 14"/>
          <p:cNvSpPr txBox="1"/>
          <p:nvPr/>
        </p:nvSpPr>
        <p:spPr>
          <a:xfrm>
            <a:off x="6446520" y="3794760"/>
            <a:ext cx="4572000" cy="365760"/>
          </a:xfrm>
          <a:prstGeom prst="rect">
            <a:avLst/>
          </a:prstGeom>
          <a:noFill/>
        </p:spPr>
        <p:txBody>
          <a:bodyPr wrap="square">
            <a:spAutoFit/>
          </a:bodyPr>
          <a:lstStyle/>
          <a:p>
            <a:pPr algn="l">
              <a:defRPr sz="1400" b="0">
                <a:solidFill>
                  <a:srgbClr val="CBD5E1"/>
                </a:solidFill>
                <a:latin typeface="Calibri"/>
              </a:defRPr>
            </a:pPr>
            <a:r>
              <a:t>→  Save 2K+ in Al Hayrat for 2 months</a:t>
            </a:r>
          </a:p>
        </p:txBody>
      </p:sp>
      <p:sp>
        <p:nvSpPr>
          <p:cNvPr id="16" name="TextBox 15"/>
          <p:cNvSpPr txBox="1"/>
          <p:nvPr/>
        </p:nvSpPr>
        <p:spPr>
          <a:xfrm>
            <a:off x="6446520" y="4251960"/>
            <a:ext cx="4572000" cy="365760"/>
          </a:xfrm>
          <a:prstGeom prst="rect">
            <a:avLst/>
          </a:prstGeom>
          <a:noFill/>
        </p:spPr>
        <p:txBody>
          <a:bodyPr wrap="square">
            <a:spAutoFit/>
          </a:bodyPr>
          <a:lstStyle/>
          <a:p>
            <a:pPr algn="l">
              <a:defRPr sz="1400" b="0">
                <a:solidFill>
                  <a:srgbClr val="CBD5E1"/>
                </a:solidFill>
                <a:latin typeface="Calibri"/>
              </a:defRPr>
            </a:pPr>
            <a:r>
              <a:t>→  Set up automatic monthly savings</a:t>
            </a:r>
          </a:p>
        </p:txBody>
      </p:sp>
      <p:sp>
        <p:nvSpPr>
          <p:cNvPr id="17" name="TextBox 16"/>
          <p:cNvSpPr txBox="1"/>
          <p:nvPr/>
        </p:nvSpPr>
        <p:spPr>
          <a:xfrm>
            <a:off x="6446520" y="4709160"/>
            <a:ext cx="4572000" cy="365760"/>
          </a:xfrm>
          <a:prstGeom prst="rect">
            <a:avLst/>
          </a:prstGeom>
          <a:noFill/>
        </p:spPr>
        <p:txBody>
          <a:bodyPr wrap="square">
            <a:spAutoFit/>
          </a:bodyPr>
          <a:lstStyle/>
          <a:p>
            <a:pPr algn="l">
              <a:defRPr sz="1400" b="0">
                <a:solidFill>
                  <a:srgbClr val="CBD5E1"/>
                </a:solidFill>
                <a:latin typeface="Calibri"/>
              </a:defRPr>
            </a:pPr>
            <a:r>
              <a:t>→  Grow savings balance by 10% quarter</a:t>
            </a:r>
          </a:p>
        </p:txBody>
      </p:sp>
      <p:sp>
        <p:nvSpPr>
          <p:cNvPr id="18" name="TextBox 17"/>
          <p:cNvSpPr txBox="1"/>
          <p:nvPr/>
        </p:nvSpPr>
        <p:spPr>
          <a:xfrm>
            <a:off x="6446520" y="5166360"/>
            <a:ext cx="4572000" cy="365760"/>
          </a:xfrm>
          <a:prstGeom prst="rect">
            <a:avLst/>
          </a:prstGeom>
          <a:noFill/>
        </p:spPr>
        <p:txBody>
          <a:bodyPr wrap="square">
            <a:spAutoFit/>
          </a:bodyPr>
          <a:lstStyle/>
          <a:p>
            <a:pPr algn="l">
              <a:defRPr sz="1400" b="0">
                <a:solidFill>
                  <a:srgbClr val="CBD5E1"/>
                </a:solidFill>
                <a:latin typeface="Calibri"/>
              </a:defRPr>
            </a:pPr>
            <a:r>
              <a:t>→  Move salary to a savings account</a:t>
            </a:r>
          </a:p>
        </p:txBody>
      </p:sp>
      <p:sp>
        <p:nvSpPr>
          <p:cNvPr id="19" name="Rounded Rectangle 18"/>
          <p:cNvSpPr/>
          <p:nvPr/>
        </p:nvSpPr>
        <p:spPr>
          <a:xfrm>
            <a:off x="914400" y="6035040"/>
            <a:ext cx="1033272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6080760"/>
            <a:ext cx="9601200" cy="365760"/>
          </a:xfrm>
          <a:prstGeom prst="rect">
            <a:avLst/>
          </a:prstGeom>
          <a:noFill/>
        </p:spPr>
        <p:txBody>
          <a:bodyPr wrap="square">
            <a:spAutoFit/>
          </a:bodyPr>
          <a:lstStyle/>
          <a:p>
            <a:pPr algn="l">
              <a:defRPr sz="1400" b="1">
                <a:solidFill>
                  <a:srgbClr val="F59E0B"/>
                </a:solidFill>
                <a:latin typeface="Calibri"/>
              </a:defRPr>
            </a:pPr>
            <a:r>
              <a:t>Result: The bank grows CASA balances while customers earn their way to the grand prize.</a:t>
            </a:r>
          </a:p>
        </p:txBody>
      </p:sp>
      <p:sp>
        <p:nvSpPr>
          <p:cNvPr id="21" name="TextBox 20"/>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4 / 15</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F59E0B"/>
                </a:solidFill>
                <a:latin typeface="Calibri"/>
              </a:defRPr>
            </a:pPr>
            <a:r>
              <a:t>REVENUE MODEL</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Multiple Revenue Streams</a:t>
            </a:r>
          </a:p>
        </p:txBody>
      </p:sp>
      <p:sp>
        <p:nvSpPr>
          <p:cNvPr id="4" name="TextBox 3"/>
          <p:cNvSpPr txBox="1"/>
          <p:nvPr/>
        </p:nvSpPr>
        <p:spPr>
          <a:xfrm>
            <a:off x="914400" y="1737360"/>
            <a:ext cx="9144000" cy="731520"/>
          </a:xfrm>
          <a:prstGeom prst="rect">
            <a:avLst/>
          </a:prstGeom>
          <a:noFill/>
        </p:spPr>
        <p:txBody>
          <a:bodyPr wrap="square">
            <a:spAutoFit/>
          </a:bodyPr>
          <a:lstStyle/>
          <a:p>
            <a:pPr algn="l">
              <a:defRPr sz="1600" b="0">
                <a:solidFill>
                  <a:srgbClr val="CBD5E1"/>
                </a:solidFill>
                <a:latin typeface="Calibri"/>
              </a:defRPr>
            </a:pPr>
            <a:r>
              <a:t>The platform generates revenue from two major sources, creating a self-sustaining gamification ecosystem that funds prizes while driving profit.</a:t>
            </a:r>
          </a:p>
        </p:txBody>
      </p:sp>
      <p:sp>
        <p:nvSpPr>
          <p:cNvPr id="5" name="Rounded Rectangle 4"/>
          <p:cNvSpPr/>
          <p:nvPr/>
        </p:nvSpPr>
        <p:spPr>
          <a:xfrm>
            <a:off x="914400" y="2743200"/>
            <a:ext cx="4846320" cy="34747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284762" y="2958299"/>
            <a:ext cx="1828800" cy="54864"/>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108960"/>
            <a:ext cx="4389120" cy="457200"/>
          </a:xfrm>
          <a:prstGeom prst="rect">
            <a:avLst/>
          </a:prstGeom>
          <a:noFill/>
        </p:spPr>
        <p:txBody>
          <a:bodyPr wrap="square">
            <a:spAutoFit/>
          </a:bodyPr>
          <a:lstStyle/>
          <a:p>
            <a:pPr algn="l">
              <a:defRPr sz="2200" b="1">
                <a:solidFill>
                  <a:srgbClr val="FFFFFF"/>
                </a:solidFill>
                <a:latin typeface="Calibri"/>
              </a:defRPr>
            </a:pPr>
            <a:r>
              <a:t>① Merchant Affiliates</a:t>
            </a:r>
          </a:p>
        </p:txBody>
      </p:sp>
      <p:sp>
        <p:nvSpPr>
          <p:cNvPr id="8" name="TextBox 7"/>
          <p:cNvSpPr txBox="1"/>
          <p:nvPr/>
        </p:nvSpPr>
        <p:spPr>
          <a:xfrm>
            <a:off x="1188720" y="3611880"/>
            <a:ext cx="4389120" cy="365760"/>
          </a:xfrm>
          <a:prstGeom prst="rect">
            <a:avLst/>
          </a:prstGeom>
          <a:noFill/>
        </p:spPr>
        <p:txBody>
          <a:bodyPr wrap="square">
            <a:spAutoFit/>
          </a:bodyPr>
          <a:lstStyle/>
          <a:p>
            <a:pPr algn="l">
              <a:defRPr sz="1400" b="0">
                <a:solidFill>
                  <a:srgbClr val="3B82F6"/>
                </a:solidFill>
                <a:latin typeface="Calibri"/>
              </a:defRPr>
            </a:pPr>
            <a:r>
              <a:t>Revenue from partner merchants</a:t>
            </a:r>
          </a:p>
        </p:txBody>
      </p:sp>
      <p:sp>
        <p:nvSpPr>
          <p:cNvPr id="9" name="TextBox 8"/>
          <p:cNvSpPr txBox="1"/>
          <p:nvPr/>
        </p:nvSpPr>
        <p:spPr>
          <a:xfrm>
            <a:off x="1188720" y="4069080"/>
            <a:ext cx="4389120" cy="320040"/>
          </a:xfrm>
          <a:prstGeom prst="rect">
            <a:avLst/>
          </a:prstGeom>
          <a:noFill/>
        </p:spPr>
        <p:txBody>
          <a:bodyPr wrap="square">
            <a:spAutoFit/>
          </a:bodyPr>
          <a:lstStyle/>
          <a:p>
            <a:pPr algn="l">
              <a:defRPr sz="1300" b="0">
                <a:solidFill>
                  <a:srgbClr val="CBD5E1"/>
                </a:solidFill>
                <a:latin typeface="Calibri"/>
              </a:defRPr>
            </a:pPr>
            <a:r>
              <a:t>●  Starbucks, Gulf Air, Lulu &amp; more</a:t>
            </a:r>
          </a:p>
        </p:txBody>
      </p:sp>
      <p:sp>
        <p:nvSpPr>
          <p:cNvPr id="10" name="TextBox 9"/>
          <p:cNvSpPr txBox="1"/>
          <p:nvPr/>
        </p:nvSpPr>
        <p:spPr>
          <a:xfrm>
            <a:off x="1188720" y="4453128"/>
            <a:ext cx="4389120" cy="320040"/>
          </a:xfrm>
          <a:prstGeom prst="rect">
            <a:avLst/>
          </a:prstGeom>
          <a:noFill/>
        </p:spPr>
        <p:txBody>
          <a:bodyPr wrap="square">
            <a:spAutoFit/>
          </a:bodyPr>
          <a:lstStyle/>
          <a:p>
            <a:pPr algn="l">
              <a:defRPr sz="1300" b="0">
                <a:solidFill>
                  <a:srgbClr val="CBD5E1"/>
                </a:solidFill>
                <a:latin typeface="Calibri"/>
              </a:defRPr>
            </a:pPr>
            <a:r>
              <a:t>●  Commission on every card transaction</a:t>
            </a:r>
          </a:p>
        </p:txBody>
      </p:sp>
      <p:sp>
        <p:nvSpPr>
          <p:cNvPr id="11" name="TextBox 10"/>
          <p:cNvSpPr txBox="1"/>
          <p:nvPr/>
        </p:nvSpPr>
        <p:spPr>
          <a:xfrm>
            <a:off x="1188720" y="4837176"/>
            <a:ext cx="4389120" cy="320040"/>
          </a:xfrm>
          <a:prstGeom prst="rect">
            <a:avLst/>
          </a:prstGeom>
          <a:noFill/>
        </p:spPr>
        <p:txBody>
          <a:bodyPr wrap="square">
            <a:spAutoFit/>
          </a:bodyPr>
          <a:lstStyle/>
          <a:p>
            <a:pPr algn="l">
              <a:defRPr sz="1300" b="0">
                <a:solidFill>
                  <a:srgbClr val="CBD5E1"/>
                </a:solidFill>
                <a:latin typeface="Calibri"/>
              </a:defRPr>
            </a:pPr>
            <a:r>
              <a:t>●  Co-branded quest sponsorship fees</a:t>
            </a:r>
          </a:p>
        </p:txBody>
      </p:sp>
      <p:sp>
        <p:nvSpPr>
          <p:cNvPr id="12" name="TextBox 11"/>
          <p:cNvSpPr txBox="1"/>
          <p:nvPr/>
        </p:nvSpPr>
        <p:spPr>
          <a:xfrm>
            <a:off x="1188720" y="5221224"/>
            <a:ext cx="4389120" cy="320040"/>
          </a:xfrm>
          <a:prstGeom prst="rect">
            <a:avLst/>
          </a:prstGeom>
          <a:noFill/>
        </p:spPr>
        <p:txBody>
          <a:bodyPr wrap="square">
            <a:spAutoFit/>
          </a:bodyPr>
          <a:lstStyle/>
          <a:p>
            <a:pPr algn="l">
              <a:defRPr sz="1300" b="0">
                <a:solidFill>
                  <a:srgbClr val="CBD5E1"/>
                </a:solidFill>
                <a:latin typeface="Calibri"/>
              </a:defRPr>
            </a:pPr>
            <a:r>
              <a:t>●  Merchant pays for featured placement</a:t>
            </a:r>
          </a:p>
        </p:txBody>
      </p:sp>
      <p:sp>
        <p:nvSpPr>
          <p:cNvPr id="13" name="TextBox 12"/>
          <p:cNvSpPr txBox="1"/>
          <p:nvPr/>
        </p:nvSpPr>
        <p:spPr>
          <a:xfrm>
            <a:off x="1188720" y="5605272"/>
            <a:ext cx="4389120" cy="320040"/>
          </a:xfrm>
          <a:prstGeom prst="rect">
            <a:avLst/>
          </a:prstGeom>
          <a:noFill/>
        </p:spPr>
        <p:txBody>
          <a:bodyPr wrap="square">
            <a:spAutoFit/>
          </a:bodyPr>
          <a:lstStyle/>
          <a:p>
            <a:pPr algn="l">
              <a:defRPr sz="1300" b="0">
                <a:solidFill>
                  <a:srgbClr val="CBD5E1"/>
                </a:solidFill>
                <a:latin typeface="Calibri"/>
              </a:defRPr>
            </a:pPr>
            <a:r>
              <a:t>●  Higher volume = better merchant rates</a:t>
            </a:r>
          </a:p>
        </p:txBody>
      </p:sp>
      <p:sp>
        <p:nvSpPr>
          <p:cNvPr id="14" name="Rounded Rectangle 13"/>
          <p:cNvSpPr/>
          <p:nvPr/>
        </p:nvSpPr>
        <p:spPr>
          <a:xfrm>
            <a:off x="6126480" y="2743200"/>
            <a:ext cx="4846320" cy="34747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0" y="2958299"/>
            <a:ext cx="182880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3108960"/>
            <a:ext cx="4389120" cy="457200"/>
          </a:xfrm>
          <a:prstGeom prst="rect">
            <a:avLst/>
          </a:prstGeom>
          <a:noFill/>
        </p:spPr>
        <p:txBody>
          <a:bodyPr wrap="square">
            <a:spAutoFit/>
          </a:bodyPr>
          <a:lstStyle/>
          <a:p>
            <a:pPr algn="l">
              <a:defRPr sz="2200" b="1">
                <a:solidFill>
                  <a:srgbClr val="FFFFFF"/>
                </a:solidFill>
                <a:latin typeface="Calibri"/>
              </a:defRPr>
            </a:pPr>
            <a:r>
              <a:t>② Customer Services</a:t>
            </a:r>
          </a:p>
        </p:txBody>
      </p:sp>
      <p:sp>
        <p:nvSpPr>
          <p:cNvPr id="17" name="TextBox 16"/>
          <p:cNvSpPr txBox="1"/>
          <p:nvPr/>
        </p:nvSpPr>
        <p:spPr>
          <a:xfrm>
            <a:off x="6400800" y="3611880"/>
            <a:ext cx="4389120" cy="365760"/>
          </a:xfrm>
          <a:prstGeom prst="rect">
            <a:avLst/>
          </a:prstGeom>
          <a:noFill/>
        </p:spPr>
        <p:txBody>
          <a:bodyPr wrap="square">
            <a:spAutoFit/>
          </a:bodyPr>
          <a:lstStyle/>
          <a:p>
            <a:pPr algn="l">
              <a:defRPr sz="1400" b="0">
                <a:solidFill>
                  <a:srgbClr val="3B82F6"/>
                </a:solidFill>
                <a:latin typeface="Calibri"/>
              </a:defRPr>
            </a:pPr>
            <a:r>
              <a:t>Revenue when customers use bank services</a:t>
            </a:r>
          </a:p>
        </p:txBody>
      </p:sp>
      <p:sp>
        <p:nvSpPr>
          <p:cNvPr id="18" name="TextBox 17"/>
          <p:cNvSpPr txBox="1"/>
          <p:nvPr/>
        </p:nvSpPr>
        <p:spPr>
          <a:xfrm>
            <a:off x="6400800" y="4069080"/>
            <a:ext cx="4389120" cy="320040"/>
          </a:xfrm>
          <a:prstGeom prst="rect">
            <a:avLst/>
          </a:prstGeom>
          <a:noFill/>
        </p:spPr>
        <p:txBody>
          <a:bodyPr wrap="square">
            <a:spAutoFit/>
          </a:bodyPr>
          <a:lstStyle/>
          <a:p>
            <a:pPr algn="l">
              <a:defRPr sz="1300" b="0">
                <a:solidFill>
                  <a:srgbClr val="CBD5E1"/>
                </a:solidFill>
                <a:latin typeface="Calibri"/>
              </a:defRPr>
            </a:pPr>
            <a:r>
              <a:t>●  New fixed deposits &amp; savings accounts</a:t>
            </a:r>
          </a:p>
        </p:txBody>
      </p:sp>
      <p:sp>
        <p:nvSpPr>
          <p:cNvPr id="19" name="TextBox 18"/>
          <p:cNvSpPr txBox="1"/>
          <p:nvPr/>
        </p:nvSpPr>
        <p:spPr>
          <a:xfrm>
            <a:off x="6400800" y="4453128"/>
            <a:ext cx="4389120" cy="320040"/>
          </a:xfrm>
          <a:prstGeom prst="rect">
            <a:avLst/>
          </a:prstGeom>
          <a:noFill/>
        </p:spPr>
        <p:txBody>
          <a:bodyPr wrap="square">
            <a:spAutoFit/>
          </a:bodyPr>
          <a:lstStyle/>
          <a:p>
            <a:pPr algn="l">
              <a:defRPr sz="1300" b="0">
                <a:solidFill>
                  <a:srgbClr val="CBD5E1"/>
                </a:solidFill>
                <a:latin typeface="Calibri"/>
              </a:defRPr>
            </a:pPr>
            <a:r>
              <a:t>●  Personal / auto / mortgage financing</a:t>
            </a:r>
          </a:p>
        </p:txBody>
      </p:sp>
      <p:sp>
        <p:nvSpPr>
          <p:cNvPr id="20" name="TextBox 19"/>
          <p:cNvSpPr txBox="1"/>
          <p:nvPr/>
        </p:nvSpPr>
        <p:spPr>
          <a:xfrm>
            <a:off x="6400800" y="4837176"/>
            <a:ext cx="4389120" cy="320040"/>
          </a:xfrm>
          <a:prstGeom prst="rect">
            <a:avLst/>
          </a:prstGeom>
          <a:noFill/>
        </p:spPr>
        <p:txBody>
          <a:bodyPr wrap="square">
            <a:spAutoFit/>
          </a:bodyPr>
          <a:lstStyle/>
          <a:p>
            <a:pPr algn="l">
              <a:defRPr sz="1300" b="0">
                <a:solidFill>
                  <a:srgbClr val="CBD5E1"/>
                </a:solidFill>
                <a:latin typeface="Calibri"/>
              </a:defRPr>
            </a:pPr>
            <a:r>
              <a:t>●  Bill payments &amp; transfers via app</a:t>
            </a:r>
          </a:p>
        </p:txBody>
      </p:sp>
      <p:sp>
        <p:nvSpPr>
          <p:cNvPr id="21" name="TextBox 20"/>
          <p:cNvSpPr txBox="1"/>
          <p:nvPr/>
        </p:nvSpPr>
        <p:spPr>
          <a:xfrm>
            <a:off x="6400800" y="5221224"/>
            <a:ext cx="4389120" cy="320040"/>
          </a:xfrm>
          <a:prstGeom prst="rect">
            <a:avLst/>
          </a:prstGeom>
          <a:noFill/>
        </p:spPr>
        <p:txBody>
          <a:bodyPr wrap="square">
            <a:spAutoFit/>
          </a:bodyPr>
          <a:lstStyle/>
          <a:p>
            <a:pPr algn="l">
              <a:defRPr sz="1300" b="0">
                <a:solidFill>
                  <a:srgbClr val="CBD5E1"/>
                </a:solidFill>
                <a:latin typeface="Calibri"/>
              </a:defRPr>
            </a:pPr>
            <a:r>
              <a:t>●  Card activation &amp; transaction fees</a:t>
            </a:r>
          </a:p>
        </p:txBody>
      </p:sp>
      <p:sp>
        <p:nvSpPr>
          <p:cNvPr id="22" name="TextBox 21"/>
          <p:cNvSpPr txBox="1"/>
          <p:nvPr/>
        </p:nvSpPr>
        <p:spPr>
          <a:xfrm>
            <a:off x="6400800" y="5605272"/>
            <a:ext cx="4389120" cy="320040"/>
          </a:xfrm>
          <a:prstGeom prst="rect">
            <a:avLst/>
          </a:prstGeom>
          <a:noFill/>
        </p:spPr>
        <p:txBody>
          <a:bodyPr wrap="square">
            <a:spAutoFit/>
          </a:bodyPr>
          <a:lstStyle/>
          <a:p>
            <a:pPr algn="l">
              <a:defRPr sz="1300" b="0">
                <a:solidFill>
                  <a:srgbClr val="CBD5E1"/>
                </a:solidFill>
                <a:latin typeface="Calibri"/>
              </a:defRPr>
            </a:pPr>
            <a:r>
              <a:t>●  Insurance &amp; investment products</a:t>
            </a:r>
          </a:p>
        </p:txBody>
      </p:sp>
      <p:sp>
        <p:nvSpPr>
          <p:cNvPr id="23" name="TextBox 22"/>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5 / 15</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BUSINESS GOALS</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What Does the Bank Achieve?</a:t>
            </a:r>
          </a:p>
        </p:txBody>
      </p:sp>
      <p:sp>
        <p:nvSpPr>
          <p:cNvPr id="4" name="Rounded Rectangle 3"/>
          <p:cNvSpPr/>
          <p:nvPr/>
        </p:nvSpPr>
        <p:spPr>
          <a:xfrm>
            <a:off x="914400" y="1828800"/>
            <a:ext cx="54864"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1828800"/>
            <a:ext cx="3657600" cy="320040"/>
          </a:xfrm>
          <a:prstGeom prst="rect">
            <a:avLst/>
          </a:prstGeom>
          <a:noFill/>
        </p:spPr>
        <p:txBody>
          <a:bodyPr wrap="square">
            <a:spAutoFit/>
          </a:bodyPr>
          <a:lstStyle/>
          <a:p>
            <a:pPr algn="l">
              <a:defRPr sz="1800" b="1">
                <a:solidFill>
                  <a:srgbClr val="FFFFFF"/>
                </a:solidFill>
                <a:latin typeface="Calibri"/>
              </a:defRPr>
            </a:pPr>
            <a:r>
              <a:t>Increase CASA Balances</a:t>
            </a:r>
          </a:p>
        </p:txBody>
      </p:sp>
      <p:sp>
        <p:nvSpPr>
          <p:cNvPr id="6" name="TextBox 5"/>
          <p:cNvSpPr txBox="1"/>
          <p:nvPr/>
        </p:nvSpPr>
        <p:spPr>
          <a:xfrm>
            <a:off x="1188720" y="2148840"/>
            <a:ext cx="7315200" cy="320040"/>
          </a:xfrm>
          <a:prstGeom prst="rect">
            <a:avLst/>
          </a:prstGeom>
          <a:noFill/>
        </p:spPr>
        <p:txBody>
          <a:bodyPr wrap="square">
            <a:spAutoFit/>
          </a:bodyPr>
          <a:lstStyle/>
          <a:p>
            <a:pPr algn="l">
              <a:defRPr sz="1300" b="0">
                <a:solidFill>
                  <a:srgbClr val="CBD5E1"/>
                </a:solidFill>
                <a:latin typeface="Calibri"/>
              </a:defRPr>
            </a:pPr>
            <a:r>
              <a:t>Encourage deposits, savings, and salary transfers</a:t>
            </a:r>
          </a:p>
        </p:txBody>
      </p:sp>
      <p:sp>
        <p:nvSpPr>
          <p:cNvPr id="7" name="Rounded Rectangle 6"/>
          <p:cNvSpPr/>
          <p:nvPr/>
        </p:nvSpPr>
        <p:spPr>
          <a:xfrm>
            <a:off x="914400" y="2743200"/>
            <a:ext cx="54864" cy="64008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2743200"/>
            <a:ext cx="3657600" cy="320040"/>
          </a:xfrm>
          <a:prstGeom prst="rect">
            <a:avLst/>
          </a:prstGeom>
          <a:noFill/>
        </p:spPr>
        <p:txBody>
          <a:bodyPr wrap="square">
            <a:spAutoFit/>
          </a:bodyPr>
          <a:lstStyle/>
          <a:p>
            <a:pPr algn="l">
              <a:defRPr sz="1800" b="1">
                <a:solidFill>
                  <a:srgbClr val="FFFFFF"/>
                </a:solidFill>
                <a:latin typeface="Calibri"/>
              </a:defRPr>
            </a:pPr>
            <a:r>
              <a:t>Boost Digital Engagement</a:t>
            </a:r>
          </a:p>
        </p:txBody>
      </p:sp>
      <p:sp>
        <p:nvSpPr>
          <p:cNvPr id="9" name="TextBox 8"/>
          <p:cNvSpPr txBox="1"/>
          <p:nvPr/>
        </p:nvSpPr>
        <p:spPr>
          <a:xfrm>
            <a:off x="1188720" y="3063240"/>
            <a:ext cx="7315200" cy="320040"/>
          </a:xfrm>
          <a:prstGeom prst="rect">
            <a:avLst/>
          </a:prstGeom>
          <a:noFill/>
        </p:spPr>
        <p:txBody>
          <a:bodyPr wrap="square">
            <a:spAutoFit/>
          </a:bodyPr>
          <a:lstStyle/>
          <a:p>
            <a:pPr algn="l">
              <a:defRPr sz="1300" b="0">
                <a:solidFill>
                  <a:srgbClr val="CBD5E1"/>
                </a:solidFill>
                <a:latin typeface="Calibri"/>
              </a:defRPr>
            </a:pPr>
            <a:r>
              <a:t>Drive mobile &amp; internet banking adoption</a:t>
            </a:r>
          </a:p>
        </p:txBody>
      </p:sp>
      <p:sp>
        <p:nvSpPr>
          <p:cNvPr id="10" name="Rounded Rectangle 9"/>
          <p:cNvSpPr/>
          <p:nvPr/>
        </p:nvSpPr>
        <p:spPr>
          <a:xfrm>
            <a:off x="914400" y="3657600"/>
            <a:ext cx="54864" cy="640080"/>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3657600"/>
            <a:ext cx="3657600" cy="320040"/>
          </a:xfrm>
          <a:prstGeom prst="rect">
            <a:avLst/>
          </a:prstGeom>
          <a:noFill/>
        </p:spPr>
        <p:txBody>
          <a:bodyPr wrap="square">
            <a:spAutoFit/>
          </a:bodyPr>
          <a:lstStyle/>
          <a:p>
            <a:pPr algn="l">
              <a:defRPr sz="1800" b="1">
                <a:solidFill>
                  <a:srgbClr val="FFFFFF"/>
                </a:solidFill>
                <a:latin typeface="Calibri"/>
              </a:defRPr>
            </a:pPr>
            <a:r>
              <a:t>Encourage Card Spending</a:t>
            </a:r>
          </a:p>
        </p:txBody>
      </p:sp>
      <p:sp>
        <p:nvSpPr>
          <p:cNvPr id="12" name="TextBox 11"/>
          <p:cNvSpPr txBox="1"/>
          <p:nvPr/>
        </p:nvSpPr>
        <p:spPr>
          <a:xfrm>
            <a:off x="1188720" y="3977639"/>
            <a:ext cx="7315200" cy="320040"/>
          </a:xfrm>
          <a:prstGeom prst="rect">
            <a:avLst/>
          </a:prstGeom>
          <a:noFill/>
        </p:spPr>
        <p:txBody>
          <a:bodyPr wrap="square">
            <a:spAutoFit/>
          </a:bodyPr>
          <a:lstStyle/>
          <a:p>
            <a:pPr algn="l">
              <a:defRPr sz="1300" b="0">
                <a:solidFill>
                  <a:srgbClr val="CBD5E1"/>
                </a:solidFill>
                <a:latin typeface="Calibri"/>
              </a:defRPr>
            </a:pPr>
            <a:r>
              <a:t>Promote card usage through merchant quests</a:t>
            </a:r>
          </a:p>
        </p:txBody>
      </p:sp>
      <p:sp>
        <p:nvSpPr>
          <p:cNvPr id="13" name="Rounded Rectangle 12"/>
          <p:cNvSpPr/>
          <p:nvPr/>
        </p:nvSpPr>
        <p:spPr>
          <a:xfrm>
            <a:off x="914400" y="4572000"/>
            <a:ext cx="54864" cy="6400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4572000"/>
            <a:ext cx="3657600" cy="320040"/>
          </a:xfrm>
          <a:prstGeom prst="rect">
            <a:avLst/>
          </a:prstGeom>
          <a:noFill/>
        </p:spPr>
        <p:txBody>
          <a:bodyPr wrap="square">
            <a:spAutoFit/>
          </a:bodyPr>
          <a:lstStyle/>
          <a:p>
            <a:pPr algn="l">
              <a:defRPr sz="1800" b="1">
                <a:solidFill>
                  <a:srgbClr val="FFFFFF"/>
                </a:solidFill>
                <a:latin typeface="Calibri"/>
              </a:defRPr>
            </a:pPr>
            <a:r>
              <a:t>Reduce Risk</a:t>
            </a:r>
          </a:p>
        </p:txBody>
      </p:sp>
      <p:sp>
        <p:nvSpPr>
          <p:cNvPr id="15" name="TextBox 14"/>
          <p:cNvSpPr txBox="1"/>
          <p:nvPr/>
        </p:nvSpPr>
        <p:spPr>
          <a:xfrm>
            <a:off x="1188720" y="4892040"/>
            <a:ext cx="7315200" cy="320040"/>
          </a:xfrm>
          <a:prstGeom prst="rect">
            <a:avLst/>
          </a:prstGeom>
          <a:noFill/>
        </p:spPr>
        <p:txBody>
          <a:bodyPr wrap="square">
            <a:spAutoFit/>
          </a:bodyPr>
          <a:lstStyle/>
          <a:p>
            <a:pPr algn="l">
              <a:defRPr sz="1300" b="0">
                <a:solidFill>
                  <a:srgbClr val="CBD5E1"/>
                </a:solidFill>
                <a:latin typeface="Calibri"/>
              </a:defRPr>
            </a:pPr>
            <a:r>
              <a:t>Incentivize responsible banking behaviours</a:t>
            </a:r>
          </a:p>
        </p:txBody>
      </p:sp>
      <p:sp>
        <p:nvSpPr>
          <p:cNvPr id="16" name="Rounded Rectangle 15"/>
          <p:cNvSpPr/>
          <p:nvPr/>
        </p:nvSpPr>
        <p:spPr>
          <a:xfrm>
            <a:off x="914400" y="5486400"/>
            <a:ext cx="54864"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5486400"/>
            <a:ext cx="3657600" cy="320040"/>
          </a:xfrm>
          <a:prstGeom prst="rect">
            <a:avLst/>
          </a:prstGeom>
          <a:noFill/>
        </p:spPr>
        <p:txBody>
          <a:bodyPr wrap="square">
            <a:spAutoFit/>
          </a:bodyPr>
          <a:lstStyle/>
          <a:p>
            <a:pPr algn="l">
              <a:defRPr sz="1800" b="1">
                <a:solidFill>
                  <a:srgbClr val="FFFFFF"/>
                </a:solidFill>
                <a:latin typeface="Calibri"/>
              </a:defRPr>
            </a:pPr>
            <a:r>
              <a:t>Social Responsibility</a:t>
            </a:r>
          </a:p>
        </p:txBody>
      </p:sp>
      <p:sp>
        <p:nvSpPr>
          <p:cNvPr id="18" name="TextBox 17"/>
          <p:cNvSpPr txBox="1"/>
          <p:nvPr/>
        </p:nvSpPr>
        <p:spPr>
          <a:xfrm>
            <a:off x="1188720" y="5806440"/>
            <a:ext cx="7315200" cy="320040"/>
          </a:xfrm>
          <a:prstGeom prst="rect">
            <a:avLst/>
          </a:prstGeom>
          <a:noFill/>
        </p:spPr>
        <p:txBody>
          <a:bodyPr wrap="square">
            <a:spAutoFit/>
          </a:bodyPr>
          <a:lstStyle/>
          <a:p>
            <a:pPr algn="l">
              <a:defRPr sz="1300" b="0">
                <a:solidFill>
                  <a:srgbClr val="CBD5E1"/>
                </a:solidFill>
                <a:latin typeface="Calibri"/>
              </a:defRPr>
            </a:pPr>
            <a:r>
              <a:t>Support charity, sustainability &amp; community</a:t>
            </a:r>
          </a:p>
        </p:txBody>
      </p:sp>
      <p:sp>
        <p:nvSpPr>
          <p:cNvPr id="19" name="TextBox 18"/>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6 / 15</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TARGET USERS</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Who Uses the Platform?</a:t>
            </a:r>
          </a:p>
        </p:txBody>
      </p:sp>
      <p:sp>
        <p:nvSpPr>
          <p:cNvPr id="4" name="Rounded Rectangle 3"/>
          <p:cNvSpPr/>
          <p:nvPr/>
        </p:nvSpPr>
        <p:spPr>
          <a:xfrm>
            <a:off x="914400" y="2011680"/>
            <a:ext cx="9601200" cy="5486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2103120"/>
            <a:ext cx="8686800" cy="365760"/>
          </a:xfrm>
          <a:prstGeom prst="rect">
            <a:avLst/>
          </a:prstGeom>
          <a:noFill/>
        </p:spPr>
        <p:txBody>
          <a:bodyPr wrap="square">
            <a:spAutoFit/>
          </a:bodyPr>
          <a:lstStyle/>
          <a:p>
            <a:pPr algn="l">
              <a:defRPr sz="1600" b="0">
                <a:solidFill>
                  <a:srgbClr val="FFFFFF"/>
                </a:solidFill>
                <a:latin typeface="Calibri"/>
              </a:defRPr>
            </a:pPr>
            <a:r>
              <a:t>Campaign Managers — create &amp; manage quests</a:t>
            </a:r>
          </a:p>
        </p:txBody>
      </p:sp>
      <p:sp>
        <p:nvSpPr>
          <p:cNvPr id="6" name="Rounded Rectangle 5"/>
          <p:cNvSpPr/>
          <p:nvPr/>
        </p:nvSpPr>
        <p:spPr>
          <a:xfrm>
            <a:off x="914400" y="2697480"/>
            <a:ext cx="9601200" cy="5486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2788920"/>
            <a:ext cx="8686800" cy="365760"/>
          </a:xfrm>
          <a:prstGeom prst="rect">
            <a:avLst/>
          </a:prstGeom>
          <a:noFill/>
        </p:spPr>
        <p:txBody>
          <a:bodyPr wrap="square">
            <a:spAutoFit/>
          </a:bodyPr>
          <a:lstStyle/>
          <a:p>
            <a:pPr algn="l">
              <a:defRPr sz="1600" b="0">
                <a:solidFill>
                  <a:srgbClr val="FFFFFF"/>
                </a:solidFill>
                <a:latin typeface="Calibri"/>
              </a:defRPr>
            </a:pPr>
            <a:r>
              <a:t>Product Owners — define objectives &amp; segments</a:t>
            </a:r>
          </a:p>
        </p:txBody>
      </p:sp>
      <p:sp>
        <p:nvSpPr>
          <p:cNvPr id="8" name="Rounded Rectangle 7"/>
          <p:cNvSpPr/>
          <p:nvPr/>
        </p:nvSpPr>
        <p:spPr>
          <a:xfrm>
            <a:off x="914400" y="3383280"/>
            <a:ext cx="9601200" cy="5486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3474720"/>
            <a:ext cx="8686800" cy="365760"/>
          </a:xfrm>
          <a:prstGeom prst="rect">
            <a:avLst/>
          </a:prstGeom>
          <a:noFill/>
        </p:spPr>
        <p:txBody>
          <a:bodyPr wrap="square">
            <a:spAutoFit/>
          </a:bodyPr>
          <a:lstStyle/>
          <a:p>
            <a:pPr algn="l">
              <a:defRPr sz="1600" b="0">
                <a:solidFill>
                  <a:srgbClr val="FFFFFF"/>
                </a:solidFill>
                <a:latin typeface="Calibri"/>
              </a:defRPr>
            </a:pPr>
            <a:r>
              <a:t>Digital Banking Team — publish to channels</a:t>
            </a:r>
          </a:p>
        </p:txBody>
      </p:sp>
      <p:sp>
        <p:nvSpPr>
          <p:cNvPr id="10" name="Rounded Rectangle 9"/>
          <p:cNvSpPr/>
          <p:nvPr/>
        </p:nvSpPr>
        <p:spPr>
          <a:xfrm>
            <a:off x="914400" y="4069080"/>
            <a:ext cx="9601200" cy="5486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4160520"/>
            <a:ext cx="8686800" cy="365760"/>
          </a:xfrm>
          <a:prstGeom prst="rect">
            <a:avLst/>
          </a:prstGeom>
          <a:noFill/>
        </p:spPr>
        <p:txBody>
          <a:bodyPr wrap="square">
            <a:spAutoFit/>
          </a:bodyPr>
          <a:lstStyle/>
          <a:p>
            <a:pPr algn="l">
              <a:defRPr sz="1600" b="0">
                <a:solidFill>
                  <a:srgbClr val="FFFFFF"/>
                </a:solidFill>
                <a:latin typeface="Calibri"/>
              </a:defRPr>
            </a:pPr>
            <a:r>
              <a:t>Marketing Team — plan promotions &amp; campaigns</a:t>
            </a:r>
          </a:p>
        </p:txBody>
      </p:sp>
      <p:sp>
        <p:nvSpPr>
          <p:cNvPr id="12" name="Rounded Rectangle 11"/>
          <p:cNvSpPr/>
          <p:nvPr/>
        </p:nvSpPr>
        <p:spPr>
          <a:xfrm>
            <a:off x="914400" y="4754880"/>
            <a:ext cx="9601200" cy="5486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4846320"/>
            <a:ext cx="8686800" cy="365760"/>
          </a:xfrm>
          <a:prstGeom prst="rect">
            <a:avLst/>
          </a:prstGeom>
          <a:noFill/>
        </p:spPr>
        <p:txBody>
          <a:bodyPr wrap="square">
            <a:spAutoFit/>
          </a:bodyPr>
          <a:lstStyle/>
          <a:p>
            <a:pPr algn="l">
              <a:defRPr sz="1600" b="0">
                <a:solidFill>
                  <a:srgbClr val="FFFFFF"/>
                </a:solidFill>
                <a:latin typeface="Calibri"/>
              </a:defRPr>
            </a:pPr>
            <a:r>
              <a:t>Risk &amp; Compliance — review rules &amp; behaviour</a:t>
            </a:r>
          </a:p>
        </p:txBody>
      </p:sp>
      <p:sp>
        <p:nvSpPr>
          <p:cNvPr id="14" name="Rounded Rectangle 13"/>
          <p:cNvSpPr/>
          <p:nvPr/>
        </p:nvSpPr>
        <p:spPr>
          <a:xfrm>
            <a:off x="914400" y="5440680"/>
            <a:ext cx="9601200" cy="5486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5532120"/>
            <a:ext cx="8686800" cy="365760"/>
          </a:xfrm>
          <a:prstGeom prst="rect">
            <a:avLst/>
          </a:prstGeom>
          <a:noFill/>
        </p:spPr>
        <p:txBody>
          <a:bodyPr wrap="square">
            <a:spAutoFit/>
          </a:bodyPr>
          <a:lstStyle/>
          <a:p>
            <a:pPr algn="l">
              <a:defRPr sz="1600" b="0">
                <a:solidFill>
                  <a:srgbClr val="FFFFFF"/>
                </a:solidFill>
                <a:latin typeface="Calibri"/>
              </a:defRPr>
            </a:pPr>
            <a:r>
              <a:t>Management — monitor KPIs, ROI &amp; performance</a:t>
            </a:r>
          </a:p>
        </p:txBody>
      </p:sp>
      <p:sp>
        <p:nvSpPr>
          <p:cNvPr id="16" name="TextBox 15"/>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7 / 15</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STRATEGIC CATEGORIES</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Five Pillars of Gamification</a:t>
            </a:r>
          </a:p>
        </p:txBody>
      </p:sp>
      <p:sp>
        <p:nvSpPr>
          <p:cNvPr id="4" name="Rounded Rectangle 3"/>
          <p:cNvSpPr/>
          <p:nvPr/>
        </p:nvSpPr>
        <p:spPr>
          <a:xfrm>
            <a:off x="457200" y="2471945"/>
            <a:ext cx="2103120" cy="200799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609105"/>
            <a:ext cx="1737360" cy="5486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837705"/>
            <a:ext cx="1737360" cy="457200"/>
          </a:xfrm>
          <a:prstGeom prst="rect">
            <a:avLst/>
          </a:prstGeom>
          <a:noFill/>
        </p:spPr>
        <p:txBody>
          <a:bodyPr wrap="square">
            <a:spAutoFit/>
          </a:bodyPr>
          <a:lstStyle/>
          <a:p>
            <a:pPr algn="l">
              <a:defRPr sz="1500" b="1">
                <a:solidFill>
                  <a:srgbClr val="FFFFFF"/>
                </a:solidFill>
                <a:latin typeface="Calibri"/>
              </a:defRPr>
            </a:pPr>
            <a:r>
              <a:t>Improve CASA</a:t>
            </a:r>
          </a:p>
        </p:txBody>
      </p:sp>
      <p:sp>
        <p:nvSpPr>
          <p:cNvPr id="7" name="TextBox 6"/>
          <p:cNvSpPr txBox="1"/>
          <p:nvPr/>
        </p:nvSpPr>
        <p:spPr>
          <a:xfrm>
            <a:off x="640080" y="3187847"/>
            <a:ext cx="1737360" cy="914400"/>
          </a:xfrm>
          <a:prstGeom prst="rect">
            <a:avLst/>
          </a:prstGeom>
          <a:noFill/>
        </p:spPr>
        <p:txBody>
          <a:bodyPr wrap="square">
            <a:spAutoFit/>
          </a:bodyPr>
          <a:lstStyle/>
          <a:p>
            <a:pPr algn="l">
              <a:defRPr sz="1200" b="0">
                <a:solidFill>
                  <a:srgbClr val="CBD5E1"/>
                </a:solidFill>
                <a:latin typeface="Calibri"/>
              </a:defRPr>
            </a:pPr>
            <a:r>
              <a:rPr dirty="0"/>
              <a:t>Salary movement, savings,</a:t>
            </a:r>
            <a:br>
              <a:rPr dirty="0"/>
            </a:br>
            <a:r>
              <a:rPr dirty="0"/>
              <a:t>deposit growth</a:t>
            </a:r>
          </a:p>
        </p:txBody>
      </p:sp>
      <p:sp>
        <p:nvSpPr>
          <p:cNvPr id="8" name="TextBox 7"/>
          <p:cNvSpPr txBox="1"/>
          <p:nvPr/>
        </p:nvSpPr>
        <p:spPr>
          <a:xfrm>
            <a:off x="640080" y="3980705"/>
            <a:ext cx="1737360" cy="457200"/>
          </a:xfrm>
          <a:prstGeom prst="rect">
            <a:avLst/>
          </a:prstGeom>
          <a:noFill/>
        </p:spPr>
        <p:txBody>
          <a:bodyPr wrap="square">
            <a:spAutoFit/>
          </a:bodyPr>
          <a:lstStyle/>
          <a:p>
            <a:pPr algn="l">
              <a:defRPr sz="1100" b="1">
                <a:solidFill>
                  <a:srgbClr val="3B82F6"/>
                </a:solidFill>
                <a:latin typeface="Calibri"/>
              </a:defRPr>
            </a:pPr>
            <a:r>
              <a:rPr dirty="0"/>
              <a:t>e.g. Salary Anchor</a:t>
            </a:r>
          </a:p>
        </p:txBody>
      </p:sp>
      <p:sp>
        <p:nvSpPr>
          <p:cNvPr id="9" name="Rounded Rectangle 8"/>
          <p:cNvSpPr/>
          <p:nvPr/>
        </p:nvSpPr>
        <p:spPr>
          <a:xfrm>
            <a:off x="2743200" y="2471945"/>
            <a:ext cx="2103120" cy="200799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926080" y="2609105"/>
            <a:ext cx="173736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26080" y="2837705"/>
            <a:ext cx="1737360" cy="457200"/>
          </a:xfrm>
          <a:prstGeom prst="rect">
            <a:avLst/>
          </a:prstGeom>
          <a:noFill/>
        </p:spPr>
        <p:txBody>
          <a:bodyPr wrap="square">
            <a:spAutoFit/>
          </a:bodyPr>
          <a:lstStyle/>
          <a:p>
            <a:pPr algn="l">
              <a:defRPr sz="1500" b="1">
                <a:solidFill>
                  <a:srgbClr val="FFFFFF"/>
                </a:solidFill>
                <a:latin typeface="Calibri"/>
              </a:defRPr>
            </a:pPr>
            <a:r>
              <a:t>Increase Engagement</a:t>
            </a:r>
          </a:p>
        </p:txBody>
      </p:sp>
      <p:sp>
        <p:nvSpPr>
          <p:cNvPr id="12" name="TextBox 11"/>
          <p:cNvSpPr txBox="1"/>
          <p:nvPr/>
        </p:nvSpPr>
        <p:spPr>
          <a:xfrm>
            <a:off x="2926080" y="3386345"/>
            <a:ext cx="1737360" cy="914400"/>
          </a:xfrm>
          <a:prstGeom prst="rect">
            <a:avLst/>
          </a:prstGeom>
          <a:noFill/>
        </p:spPr>
        <p:txBody>
          <a:bodyPr wrap="square">
            <a:spAutoFit/>
          </a:bodyPr>
          <a:lstStyle/>
          <a:p>
            <a:pPr algn="l">
              <a:defRPr sz="1200" b="0">
                <a:solidFill>
                  <a:srgbClr val="CBD5E1"/>
                </a:solidFill>
                <a:latin typeface="Calibri"/>
              </a:defRPr>
            </a:pPr>
            <a:r>
              <a:t>App usage, bill pay,</a:t>
            </a:r>
            <a:br/>
            <a:r>
              <a:t>digital adoption</a:t>
            </a:r>
          </a:p>
        </p:txBody>
      </p:sp>
      <p:sp>
        <p:nvSpPr>
          <p:cNvPr id="13" name="TextBox 12"/>
          <p:cNvSpPr txBox="1"/>
          <p:nvPr/>
        </p:nvSpPr>
        <p:spPr>
          <a:xfrm>
            <a:off x="2926080" y="3980705"/>
            <a:ext cx="1737360" cy="457200"/>
          </a:xfrm>
          <a:prstGeom prst="rect">
            <a:avLst/>
          </a:prstGeom>
          <a:noFill/>
        </p:spPr>
        <p:txBody>
          <a:bodyPr wrap="square">
            <a:spAutoFit/>
          </a:bodyPr>
          <a:lstStyle/>
          <a:p>
            <a:pPr algn="l">
              <a:defRPr sz="1100" b="1">
                <a:solidFill>
                  <a:srgbClr val="7C3AED"/>
                </a:solidFill>
                <a:latin typeface="Calibri"/>
              </a:defRPr>
            </a:pPr>
            <a:r>
              <a:rPr dirty="0"/>
              <a:t>e.g. Bill Pay Streak</a:t>
            </a:r>
          </a:p>
        </p:txBody>
      </p:sp>
      <p:sp>
        <p:nvSpPr>
          <p:cNvPr id="14" name="Rounded Rectangle 13"/>
          <p:cNvSpPr/>
          <p:nvPr/>
        </p:nvSpPr>
        <p:spPr>
          <a:xfrm>
            <a:off x="5029200" y="2471945"/>
            <a:ext cx="2103120" cy="200799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212080" y="2609105"/>
            <a:ext cx="1737360" cy="54864"/>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2837705"/>
            <a:ext cx="1737360" cy="457200"/>
          </a:xfrm>
          <a:prstGeom prst="rect">
            <a:avLst/>
          </a:prstGeom>
          <a:noFill/>
        </p:spPr>
        <p:txBody>
          <a:bodyPr wrap="square">
            <a:spAutoFit/>
          </a:bodyPr>
          <a:lstStyle/>
          <a:p>
            <a:pPr algn="l">
              <a:defRPr sz="1500" b="1">
                <a:solidFill>
                  <a:srgbClr val="FFFFFF"/>
                </a:solidFill>
                <a:latin typeface="Calibri"/>
              </a:defRPr>
            </a:pPr>
            <a:r>
              <a:t>Encourage Spending</a:t>
            </a:r>
          </a:p>
        </p:txBody>
      </p:sp>
      <p:sp>
        <p:nvSpPr>
          <p:cNvPr id="17" name="TextBox 16"/>
          <p:cNvSpPr txBox="1"/>
          <p:nvPr/>
        </p:nvSpPr>
        <p:spPr>
          <a:xfrm>
            <a:off x="5212080" y="3386345"/>
            <a:ext cx="1737360" cy="914400"/>
          </a:xfrm>
          <a:prstGeom prst="rect">
            <a:avLst/>
          </a:prstGeom>
          <a:noFill/>
        </p:spPr>
        <p:txBody>
          <a:bodyPr wrap="square">
            <a:spAutoFit/>
          </a:bodyPr>
          <a:lstStyle/>
          <a:p>
            <a:pPr algn="l">
              <a:defRPr sz="1200" b="0">
                <a:solidFill>
                  <a:srgbClr val="CBD5E1"/>
                </a:solidFill>
                <a:latin typeface="Calibri"/>
              </a:defRPr>
            </a:pPr>
            <a:r>
              <a:t>Card transactions,</a:t>
            </a:r>
            <a:br/>
            <a:r>
              <a:t>merchant partnerships</a:t>
            </a:r>
          </a:p>
        </p:txBody>
      </p:sp>
      <p:sp>
        <p:nvSpPr>
          <p:cNvPr id="18" name="TextBox 17"/>
          <p:cNvSpPr txBox="1"/>
          <p:nvPr/>
        </p:nvSpPr>
        <p:spPr>
          <a:xfrm>
            <a:off x="5212080" y="3980705"/>
            <a:ext cx="1737360" cy="457200"/>
          </a:xfrm>
          <a:prstGeom prst="rect">
            <a:avLst/>
          </a:prstGeom>
          <a:noFill/>
        </p:spPr>
        <p:txBody>
          <a:bodyPr wrap="square">
            <a:spAutoFit/>
          </a:bodyPr>
          <a:lstStyle/>
          <a:p>
            <a:pPr algn="l">
              <a:defRPr sz="1100" b="1">
                <a:solidFill>
                  <a:srgbClr val="F97316"/>
                </a:solidFill>
                <a:latin typeface="Calibri"/>
              </a:defRPr>
            </a:pPr>
            <a:r>
              <a:rPr dirty="0"/>
              <a:t>e.g. Starbucks Quest</a:t>
            </a:r>
          </a:p>
        </p:txBody>
      </p:sp>
      <p:sp>
        <p:nvSpPr>
          <p:cNvPr id="19" name="Rounded Rectangle 18"/>
          <p:cNvSpPr/>
          <p:nvPr/>
        </p:nvSpPr>
        <p:spPr>
          <a:xfrm>
            <a:off x="7315200" y="2471945"/>
            <a:ext cx="2103120" cy="19659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498079" y="2609105"/>
            <a:ext cx="1737360"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2837705"/>
            <a:ext cx="1737360" cy="457200"/>
          </a:xfrm>
          <a:prstGeom prst="rect">
            <a:avLst/>
          </a:prstGeom>
          <a:noFill/>
        </p:spPr>
        <p:txBody>
          <a:bodyPr wrap="square">
            <a:spAutoFit/>
          </a:bodyPr>
          <a:lstStyle/>
          <a:p>
            <a:pPr algn="l">
              <a:defRPr sz="1500" b="1">
                <a:solidFill>
                  <a:srgbClr val="FFFFFF"/>
                </a:solidFill>
                <a:latin typeface="Calibri"/>
              </a:defRPr>
            </a:pPr>
            <a:r>
              <a:t>Risk Reduction</a:t>
            </a:r>
          </a:p>
        </p:txBody>
      </p:sp>
      <p:sp>
        <p:nvSpPr>
          <p:cNvPr id="22" name="TextBox 21"/>
          <p:cNvSpPr txBox="1"/>
          <p:nvPr/>
        </p:nvSpPr>
        <p:spPr>
          <a:xfrm>
            <a:off x="7498079" y="3386345"/>
            <a:ext cx="1737360" cy="914400"/>
          </a:xfrm>
          <a:prstGeom prst="rect">
            <a:avLst/>
          </a:prstGeom>
          <a:noFill/>
        </p:spPr>
        <p:txBody>
          <a:bodyPr wrap="square">
            <a:spAutoFit/>
          </a:bodyPr>
          <a:lstStyle/>
          <a:p>
            <a:pPr algn="l">
              <a:defRPr sz="1200" b="0">
                <a:solidFill>
                  <a:srgbClr val="CBD5E1"/>
                </a:solidFill>
                <a:latin typeface="Calibri"/>
              </a:defRPr>
            </a:pPr>
            <a:r>
              <a:t>On-time payments,</a:t>
            </a:r>
            <a:br/>
            <a:r>
              <a:t>phishing awareness</a:t>
            </a:r>
          </a:p>
        </p:txBody>
      </p:sp>
      <p:sp>
        <p:nvSpPr>
          <p:cNvPr id="23" name="TextBox 22"/>
          <p:cNvSpPr txBox="1"/>
          <p:nvPr/>
        </p:nvSpPr>
        <p:spPr>
          <a:xfrm>
            <a:off x="7498079" y="3980705"/>
            <a:ext cx="1737360" cy="457200"/>
          </a:xfrm>
          <a:prstGeom prst="rect">
            <a:avLst/>
          </a:prstGeom>
          <a:noFill/>
        </p:spPr>
        <p:txBody>
          <a:bodyPr wrap="square">
            <a:spAutoFit/>
          </a:bodyPr>
          <a:lstStyle/>
          <a:p>
            <a:pPr algn="l">
              <a:defRPr sz="1100" b="1">
                <a:solidFill>
                  <a:srgbClr val="DC2626"/>
                </a:solidFill>
                <a:latin typeface="Calibri"/>
              </a:defRPr>
            </a:pPr>
            <a:r>
              <a:rPr dirty="0"/>
              <a:t>e.g. Phishing Fighter</a:t>
            </a:r>
          </a:p>
        </p:txBody>
      </p:sp>
      <p:sp>
        <p:nvSpPr>
          <p:cNvPr id="24" name="Rounded Rectangle 23"/>
          <p:cNvSpPr/>
          <p:nvPr/>
        </p:nvSpPr>
        <p:spPr>
          <a:xfrm>
            <a:off x="9601200" y="2471945"/>
            <a:ext cx="2103120" cy="19659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784080" y="2604533"/>
            <a:ext cx="1737360" cy="54864"/>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0" y="2837705"/>
            <a:ext cx="1737360" cy="457200"/>
          </a:xfrm>
          <a:prstGeom prst="rect">
            <a:avLst/>
          </a:prstGeom>
          <a:noFill/>
        </p:spPr>
        <p:txBody>
          <a:bodyPr wrap="square">
            <a:spAutoFit/>
          </a:bodyPr>
          <a:lstStyle/>
          <a:p>
            <a:pPr algn="l">
              <a:defRPr sz="1500" b="1">
                <a:solidFill>
                  <a:srgbClr val="FFFFFF"/>
                </a:solidFill>
                <a:latin typeface="Calibri"/>
              </a:defRPr>
            </a:pPr>
            <a:r>
              <a:t>Social Responsibility</a:t>
            </a:r>
          </a:p>
        </p:txBody>
      </p:sp>
      <p:sp>
        <p:nvSpPr>
          <p:cNvPr id="27" name="TextBox 26"/>
          <p:cNvSpPr txBox="1"/>
          <p:nvPr/>
        </p:nvSpPr>
        <p:spPr>
          <a:xfrm>
            <a:off x="9784080" y="3386345"/>
            <a:ext cx="1737360" cy="914400"/>
          </a:xfrm>
          <a:prstGeom prst="rect">
            <a:avLst/>
          </a:prstGeom>
          <a:noFill/>
        </p:spPr>
        <p:txBody>
          <a:bodyPr wrap="square">
            <a:spAutoFit/>
          </a:bodyPr>
          <a:lstStyle/>
          <a:p>
            <a:pPr algn="l">
              <a:defRPr sz="1200" b="0">
                <a:solidFill>
                  <a:srgbClr val="CBD5E1"/>
                </a:solidFill>
                <a:latin typeface="Calibri"/>
              </a:defRPr>
            </a:pPr>
            <a:r>
              <a:t>Charity, green finance,</a:t>
            </a:r>
            <a:br/>
            <a:r>
              <a:t>community impact</a:t>
            </a:r>
          </a:p>
        </p:txBody>
      </p:sp>
      <p:sp>
        <p:nvSpPr>
          <p:cNvPr id="28" name="TextBox 27"/>
          <p:cNvSpPr txBox="1"/>
          <p:nvPr/>
        </p:nvSpPr>
        <p:spPr>
          <a:xfrm>
            <a:off x="9774875" y="3980705"/>
            <a:ext cx="1737360" cy="457200"/>
          </a:xfrm>
          <a:prstGeom prst="rect">
            <a:avLst/>
          </a:prstGeom>
          <a:noFill/>
        </p:spPr>
        <p:txBody>
          <a:bodyPr wrap="square">
            <a:spAutoFit/>
          </a:bodyPr>
          <a:lstStyle/>
          <a:p>
            <a:pPr algn="l">
              <a:defRPr sz="1100" b="1">
                <a:solidFill>
                  <a:srgbClr val="16A34A"/>
                </a:solidFill>
                <a:latin typeface="Calibri"/>
              </a:defRPr>
            </a:pPr>
            <a:r>
              <a:rPr dirty="0"/>
              <a:t>e.g. Donate to Charity</a:t>
            </a:r>
          </a:p>
        </p:txBody>
      </p:sp>
      <p:sp>
        <p:nvSpPr>
          <p:cNvPr id="29" name="TextBox 28"/>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8 / 15</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USER JOURNEY</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End-to-End Workflow</a:t>
            </a:r>
          </a:p>
        </p:txBody>
      </p:sp>
      <p:sp>
        <p:nvSpPr>
          <p:cNvPr id="4" name="Rounded Rectangle 3"/>
          <p:cNvSpPr/>
          <p:nvPr/>
        </p:nvSpPr>
        <p:spPr>
          <a:xfrm>
            <a:off x="914400" y="2011680"/>
            <a:ext cx="54864" cy="457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2057400"/>
            <a:ext cx="9144000" cy="365760"/>
          </a:xfrm>
          <a:prstGeom prst="rect">
            <a:avLst/>
          </a:prstGeom>
          <a:noFill/>
        </p:spPr>
        <p:txBody>
          <a:bodyPr wrap="square">
            <a:spAutoFit/>
          </a:bodyPr>
          <a:lstStyle/>
          <a:p>
            <a:pPr algn="l">
              <a:defRPr sz="1700" b="0">
                <a:solidFill>
                  <a:srgbClr val="FFFFFF"/>
                </a:solidFill>
                <a:latin typeface="Calibri"/>
              </a:defRPr>
            </a:pPr>
            <a:r>
              <a:t>1. Create a new quest via Quest Forge form</a:t>
            </a:r>
          </a:p>
        </p:txBody>
      </p:sp>
      <p:sp>
        <p:nvSpPr>
          <p:cNvPr id="6" name="Rounded Rectangle 5"/>
          <p:cNvSpPr/>
          <p:nvPr/>
        </p:nvSpPr>
        <p:spPr>
          <a:xfrm>
            <a:off x="914400" y="2651760"/>
            <a:ext cx="54864" cy="457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2697480"/>
            <a:ext cx="9144000" cy="365760"/>
          </a:xfrm>
          <a:prstGeom prst="rect">
            <a:avLst/>
          </a:prstGeom>
          <a:noFill/>
        </p:spPr>
        <p:txBody>
          <a:bodyPr wrap="square">
            <a:spAutoFit/>
          </a:bodyPr>
          <a:lstStyle/>
          <a:p>
            <a:pPr algn="l">
              <a:defRPr sz="1700" b="0">
                <a:solidFill>
                  <a:srgbClr val="FFFFFF"/>
                </a:solidFill>
                <a:latin typeface="Calibri"/>
              </a:defRPr>
            </a:pPr>
            <a:r>
              <a:t>2. Set category, dates, segment &amp; financials</a:t>
            </a:r>
          </a:p>
        </p:txBody>
      </p:sp>
      <p:sp>
        <p:nvSpPr>
          <p:cNvPr id="8" name="Rounded Rectangle 7"/>
          <p:cNvSpPr/>
          <p:nvPr/>
        </p:nvSpPr>
        <p:spPr>
          <a:xfrm>
            <a:off x="914400" y="3291840"/>
            <a:ext cx="54864" cy="457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3337560"/>
            <a:ext cx="9144000" cy="365760"/>
          </a:xfrm>
          <a:prstGeom prst="rect">
            <a:avLst/>
          </a:prstGeom>
          <a:noFill/>
        </p:spPr>
        <p:txBody>
          <a:bodyPr wrap="square">
            <a:spAutoFit/>
          </a:bodyPr>
          <a:lstStyle/>
          <a:p>
            <a:pPr algn="l">
              <a:defRPr sz="1700" b="0">
                <a:solidFill>
                  <a:srgbClr val="FFFFFF"/>
                </a:solidFill>
                <a:latin typeface="Calibri"/>
              </a:defRPr>
            </a:pPr>
            <a:r>
              <a:t>3. Quest appears in Campaign Calendar</a:t>
            </a:r>
          </a:p>
        </p:txBody>
      </p:sp>
      <p:sp>
        <p:nvSpPr>
          <p:cNvPr id="10" name="Rounded Rectangle 9"/>
          <p:cNvSpPr/>
          <p:nvPr/>
        </p:nvSpPr>
        <p:spPr>
          <a:xfrm>
            <a:off x="914400" y="3931920"/>
            <a:ext cx="54864" cy="457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3977639"/>
            <a:ext cx="9144000" cy="365760"/>
          </a:xfrm>
          <a:prstGeom prst="rect">
            <a:avLst/>
          </a:prstGeom>
          <a:noFill/>
        </p:spPr>
        <p:txBody>
          <a:bodyPr wrap="square">
            <a:spAutoFit/>
          </a:bodyPr>
          <a:lstStyle/>
          <a:p>
            <a:pPr algn="l">
              <a:defRPr sz="1700" b="0">
                <a:solidFill>
                  <a:srgbClr val="FFFFFF"/>
                </a:solidFill>
                <a:latin typeface="Calibri"/>
              </a:defRPr>
            </a:pPr>
            <a:r>
              <a:t>4. Quest listed in Digital Channel Table</a:t>
            </a:r>
          </a:p>
        </p:txBody>
      </p:sp>
      <p:sp>
        <p:nvSpPr>
          <p:cNvPr id="12" name="Rounded Rectangle 11"/>
          <p:cNvSpPr/>
          <p:nvPr/>
        </p:nvSpPr>
        <p:spPr>
          <a:xfrm>
            <a:off x="914400" y="4572000"/>
            <a:ext cx="54864" cy="457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4617720"/>
            <a:ext cx="9144000" cy="365760"/>
          </a:xfrm>
          <a:prstGeom prst="rect">
            <a:avLst/>
          </a:prstGeom>
          <a:noFill/>
        </p:spPr>
        <p:txBody>
          <a:bodyPr wrap="square">
            <a:spAutoFit/>
          </a:bodyPr>
          <a:lstStyle/>
          <a:p>
            <a:pPr algn="l">
              <a:defRPr sz="1700" b="0">
                <a:solidFill>
                  <a:srgbClr val="FFFFFF"/>
                </a:solidFill>
                <a:latin typeface="Calibri"/>
              </a:defRPr>
            </a:pPr>
            <a:r>
              <a:t>5. Monitor customer participation &amp; rankings</a:t>
            </a:r>
          </a:p>
        </p:txBody>
      </p:sp>
      <p:sp>
        <p:nvSpPr>
          <p:cNvPr id="14" name="Rounded Rectangle 13"/>
          <p:cNvSpPr/>
          <p:nvPr/>
        </p:nvSpPr>
        <p:spPr>
          <a:xfrm>
            <a:off x="914400" y="5212080"/>
            <a:ext cx="54864" cy="457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5257800"/>
            <a:ext cx="9144000" cy="365760"/>
          </a:xfrm>
          <a:prstGeom prst="rect">
            <a:avLst/>
          </a:prstGeom>
          <a:noFill/>
        </p:spPr>
        <p:txBody>
          <a:bodyPr wrap="square">
            <a:spAutoFit/>
          </a:bodyPr>
          <a:lstStyle/>
          <a:p>
            <a:pPr algn="l">
              <a:defRPr sz="1700" b="0">
                <a:solidFill>
                  <a:srgbClr val="FFFFFF"/>
                </a:solidFill>
                <a:latin typeface="Calibri"/>
              </a:defRPr>
            </a:pPr>
            <a:r>
              <a:t>6. Track KPIs, revenue forecast &amp; ROI</a:t>
            </a:r>
          </a:p>
        </p:txBody>
      </p:sp>
      <p:sp>
        <p:nvSpPr>
          <p:cNvPr id="16" name="Rounded Rectangle 15"/>
          <p:cNvSpPr/>
          <p:nvPr/>
        </p:nvSpPr>
        <p:spPr>
          <a:xfrm>
            <a:off x="914400" y="5852159"/>
            <a:ext cx="54864" cy="457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5897879"/>
            <a:ext cx="9144000" cy="365760"/>
          </a:xfrm>
          <a:prstGeom prst="rect">
            <a:avLst/>
          </a:prstGeom>
          <a:noFill/>
        </p:spPr>
        <p:txBody>
          <a:bodyPr wrap="square">
            <a:spAutoFit/>
          </a:bodyPr>
          <a:lstStyle/>
          <a:p>
            <a:pPr algn="l">
              <a:defRPr sz="1700" b="0">
                <a:solidFill>
                  <a:srgbClr val="FFFFFF"/>
                </a:solidFill>
                <a:latin typeface="Calibri"/>
              </a:defRPr>
            </a:pPr>
            <a:r>
              <a:t>7. Export data as CSV for reporting</a:t>
            </a:r>
          </a:p>
        </p:txBody>
      </p:sp>
      <p:sp>
        <p:nvSpPr>
          <p:cNvPr id="18" name="TextBox 17"/>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9 / 15</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COMMAND CENTER</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Dashboard KPIs at a Glance</a:t>
            </a:r>
          </a:p>
        </p:txBody>
      </p:sp>
      <p:sp>
        <p:nvSpPr>
          <p:cNvPr id="4" name="Rounded Rectangle 3"/>
          <p:cNvSpPr/>
          <p:nvPr/>
        </p:nvSpPr>
        <p:spPr>
          <a:xfrm>
            <a:off x="914400" y="2011680"/>
            <a:ext cx="24688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51560" y="2148840"/>
            <a:ext cx="73152" cy="1005839"/>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194560"/>
            <a:ext cx="1920240" cy="274320"/>
          </a:xfrm>
          <a:prstGeom prst="rect">
            <a:avLst/>
          </a:prstGeom>
          <a:noFill/>
        </p:spPr>
        <p:txBody>
          <a:bodyPr wrap="square">
            <a:spAutoFit/>
          </a:bodyPr>
          <a:lstStyle/>
          <a:p>
            <a:pPr algn="l">
              <a:defRPr sz="1100" b="0">
                <a:solidFill>
                  <a:srgbClr val="CBD5E1"/>
                </a:solidFill>
                <a:latin typeface="Calibri"/>
              </a:defRPr>
            </a:pPr>
            <a:r>
              <a:t>Active / Scheduled</a:t>
            </a:r>
          </a:p>
        </p:txBody>
      </p:sp>
      <p:sp>
        <p:nvSpPr>
          <p:cNvPr id="7" name="TextBox 6"/>
          <p:cNvSpPr txBox="1"/>
          <p:nvPr/>
        </p:nvSpPr>
        <p:spPr>
          <a:xfrm>
            <a:off x="1280160" y="2468880"/>
            <a:ext cx="1920240" cy="457200"/>
          </a:xfrm>
          <a:prstGeom prst="rect">
            <a:avLst/>
          </a:prstGeom>
          <a:noFill/>
        </p:spPr>
        <p:txBody>
          <a:bodyPr wrap="square">
            <a:spAutoFit/>
          </a:bodyPr>
          <a:lstStyle/>
          <a:p>
            <a:pPr algn="l">
              <a:defRPr sz="2800" b="1">
                <a:solidFill>
                  <a:srgbClr val="FFFFFF"/>
                </a:solidFill>
                <a:latin typeface="Calibri"/>
              </a:defRPr>
            </a:pPr>
            <a:r>
              <a:t>13</a:t>
            </a:r>
          </a:p>
        </p:txBody>
      </p:sp>
      <p:sp>
        <p:nvSpPr>
          <p:cNvPr id="8" name="TextBox 7"/>
          <p:cNvSpPr txBox="1"/>
          <p:nvPr/>
        </p:nvSpPr>
        <p:spPr>
          <a:xfrm>
            <a:off x="1280160" y="2926080"/>
            <a:ext cx="1920240" cy="274320"/>
          </a:xfrm>
          <a:prstGeom prst="rect">
            <a:avLst/>
          </a:prstGeom>
          <a:noFill/>
        </p:spPr>
        <p:txBody>
          <a:bodyPr wrap="square">
            <a:spAutoFit/>
          </a:bodyPr>
          <a:lstStyle/>
          <a:p>
            <a:pPr algn="l">
              <a:defRPr sz="1000" b="0">
                <a:solidFill>
                  <a:srgbClr val="64748B"/>
                </a:solidFill>
                <a:latin typeface="Calibri"/>
              </a:defRPr>
            </a:pPr>
            <a:r>
              <a:t>total quest programs</a:t>
            </a:r>
          </a:p>
        </p:txBody>
      </p:sp>
      <p:sp>
        <p:nvSpPr>
          <p:cNvPr id="9" name="Rounded Rectangle 8"/>
          <p:cNvSpPr/>
          <p:nvPr/>
        </p:nvSpPr>
        <p:spPr>
          <a:xfrm>
            <a:off x="3657600" y="2011680"/>
            <a:ext cx="24688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794760" y="2148840"/>
            <a:ext cx="73152" cy="1005839"/>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023360" y="2194560"/>
            <a:ext cx="1920240" cy="274320"/>
          </a:xfrm>
          <a:prstGeom prst="rect">
            <a:avLst/>
          </a:prstGeom>
          <a:noFill/>
        </p:spPr>
        <p:txBody>
          <a:bodyPr wrap="square">
            <a:spAutoFit/>
          </a:bodyPr>
          <a:lstStyle/>
          <a:p>
            <a:pPr algn="l">
              <a:defRPr sz="1100" b="0">
                <a:solidFill>
                  <a:srgbClr val="CBD5E1"/>
                </a:solidFill>
                <a:latin typeface="Calibri"/>
              </a:defRPr>
            </a:pPr>
            <a:r>
              <a:t>Customers Doing Quests</a:t>
            </a:r>
          </a:p>
        </p:txBody>
      </p:sp>
      <p:sp>
        <p:nvSpPr>
          <p:cNvPr id="12" name="TextBox 11"/>
          <p:cNvSpPr txBox="1"/>
          <p:nvPr/>
        </p:nvSpPr>
        <p:spPr>
          <a:xfrm>
            <a:off x="4023360" y="2468880"/>
            <a:ext cx="1920240" cy="457200"/>
          </a:xfrm>
          <a:prstGeom prst="rect">
            <a:avLst/>
          </a:prstGeom>
          <a:noFill/>
        </p:spPr>
        <p:txBody>
          <a:bodyPr wrap="square">
            <a:spAutoFit/>
          </a:bodyPr>
          <a:lstStyle/>
          <a:p>
            <a:pPr algn="l">
              <a:defRPr sz="2800" b="1">
                <a:solidFill>
                  <a:srgbClr val="FFFFFF"/>
                </a:solidFill>
                <a:latin typeface="Calibri"/>
              </a:defRPr>
            </a:pPr>
            <a:r>
              <a:t>249K</a:t>
            </a:r>
          </a:p>
        </p:txBody>
      </p:sp>
      <p:sp>
        <p:nvSpPr>
          <p:cNvPr id="13" name="TextBox 12"/>
          <p:cNvSpPr txBox="1"/>
          <p:nvPr/>
        </p:nvSpPr>
        <p:spPr>
          <a:xfrm>
            <a:off x="4023360" y="2926080"/>
            <a:ext cx="1920240" cy="274320"/>
          </a:xfrm>
          <a:prstGeom prst="rect">
            <a:avLst/>
          </a:prstGeom>
          <a:noFill/>
        </p:spPr>
        <p:txBody>
          <a:bodyPr wrap="square">
            <a:spAutoFit/>
          </a:bodyPr>
          <a:lstStyle/>
          <a:p>
            <a:pPr algn="l">
              <a:defRPr sz="1000" b="0">
                <a:solidFill>
                  <a:srgbClr val="64748B"/>
                </a:solidFill>
                <a:latin typeface="Calibri"/>
              </a:defRPr>
            </a:pPr>
            <a:r>
              <a:t>forecast completion</a:t>
            </a:r>
          </a:p>
        </p:txBody>
      </p:sp>
      <p:sp>
        <p:nvSpPr>
          <p:cNvPr id="14" name="Rounded Rectangle 13"/>
          <p:cNvSpPr/>
          <p:nvPr/>
        </p:nvSpPr>
        <p:spPr>
          <a:xfrm>
            <a:off x="6400800" y="2011680"/>
            <a:ext cx="24688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2148840"/>
            <a:ext cx="73152" cy="1005839"/>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60" y="2194560"/>
            <a:ext cx="1920240" cy="274320"/>
          </a:xfrm>
          <a:prstGeom prst="rect">
            <a:avLst/>
          </a:prstGeom>
          <a:noFill/>
        </p:spPr>
        <p:txBody>
          <a:bodyPr wrap="square">
            <a:spAutoFit/>
          </a:bodyPr>
          <a:lstStyle/>
          <a:p>
            <a:pPr algn="l">
              <a:defRPr sz="1100" b="0">
                <a:solidFill>
                  <a:srgbClr val="CBD5E1"/>
                </a:solidFill>
                <a:latin typeface="Calibri"/>
              </a:defRPr>
            </a:pPr>
            <a:r>
              <a:t>Forecast Revenue</a:t>
            </a:r>
          </a:p>
        </p:txBody>
      </p:sp>
      <p:sp>
        <p:nvSpPr>
          <p:cNvPr id="17" name="TextBox 16"/>
          <p:cNvSpPr txBox="1"/>
          <p:nvPr/>
        </p:nvSpPr>
        <p:spPr>
          <a:xfrm>
            <a:off x="6766560" y="2468880"/>
            <a:ext cx="1920240" cy="457200"/>
          </a:xfrm>
          <a:prstGeom prst="rect">
            <a:avLst/>
          </a:prstGeom>
          <a:noFill/>
        </p:spPr>
        <p:txBody>
          <a:bodyPr wrap="square">
            <a:spAutoFit/>
          </a:bodyPr>
          <a:lstStyle/>
          <a:p>
            <a:pPr algn="l">
              <a:defRPr sz="2800" b="1">
                <a:solidFill>
                  <a:srgbClr val="FFFFFF"/>
                </a:solidFill>
                <a:latin typeface="Calibri"/>
              </a:defRPr>
            </a:pPr>
            <a:r>
              <a:t>$1.7M</a:t>
            </a:r>
          </a:p>
        </p:txBody>
      </p:sp>
      <p:sp>
        <p:nvSpPr>
          <p:cNvPr id="18" name="TextBox 17"/>
          <p:cNvSpPr txBox="1"/>
          <p:nvPr/>
        </p:nvSpPr>
        <p:spPr>
          <a:xfrm>
            <a:off x="6766560" y="2926080"/>
            <a:ext cx="1920240" cy="274320"/>
          </a:xfrm>
          <a:prstGeom prst="rect">
            <a:avLst/>
          </a:prstGeom>
          <a:noFill/>
        </p:spPr>
        <p:txBody>
          <a:bodyPr wrap="square">
            <a:spAutoFit/>
          </a:bodyPr>
          <a:lstStyle/>
          <a:p>
            <a:pPr algn="l">
              <a:defRPr sz="1000" b="0">
                <a:solidFill>
                  <a:srgbClr val="64748B"/>
                </a:solidFill>
                <a:latin typeface="Calibri"/>
              </a:defRPr>
            </a:pPr>
            <a:r>
              <a:t>across all quests</a:t>
            </a:r>
          </a:p>
        </p:txBody>
      </p:sp>
      <p:sp>
        <p:nvSpPr>
          <p:cNvPr id="19" name="Rounded Rectangle 18"/>
          <p:cNvSpPr/>
          <p:nvPr/>
        </p:nvSpPr>
        <p:spPr>
          <a:xfrm>
            <a:off x="9144000" y="2011680"/>
            <a:ext cx="24688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281160" y="2148840"/>
            <a:ext cx="73152" cy="1005839"/>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09760" y="2194560"/>
            <a:ext cx="1920240" cy="274320"/>
          </a:xfrm>
          <a:prstGeom prst="rect">
            <a:avLst/>
          </a:prstGeom>
          <a:noFill/>
        </p:spPr>
        <p:txBody>
          <a:bodyPr wrap="square">
            <a:spAutoFit/>
          </a:bodyPr>
          <a:lstStyle/>
          <a:p>
            <a:pPr algn="l">
              <a:defRPr sz="1100" b="0">
                <a:solidFill>
                  <a:srgbClr val="CBD5E1"/>
                </a:solidFill>
                <a:latin typeface="Calibri"/>
              </a:defRPr>
            </a:pPr>
            <a:r>
              <a:t>Forecast ROI</a:t>
            </a:r>
          </a:p>
        </p:txBody>
      </p:sp>
      <p:sp>
        <p:nvSpPr>
          <p:cNvPr id="22" name="TextBox 21"/>
          <p:cNvSpPr txBox="1"/>
          <p:nvPr/>
        </p:nvSpPr>
        <p:spPr>
          <a:xfrm>
            <a:off x="9509760" y="2468880"/>
            <a:ext cx="1920240" cy="457200"/>
          </a:xfrm>
          <a:prstGeom prst="rect">
            <a:avLst/>
          </a:prstGeom>
          <a:noFill/>
        </p:spPr>
        <p:txBody>
          <a:bodyPr wrap="square">
            <a:spAutoFit/>
          </a:bodyPr>
          <a:lstStyle/>
          <a:p>
            <a:pPr algn="l">
              <a:defRPr sz="2800" b="1">
                <a:solidFill>
                  <a:srgbClr val="FFFFFF"/>
                </a:solidFill>
                <a:latin typeface="Calibri"/>
              </a:defRPr>
            </a:pPr>
            <a:r>
              <a:t>594%</a:t>
            </a:r>
          </a:p>
        </p:txBody>
      </p:sp>
      <p:sp>
        <p:nvSpPr>
          <p:cNvPr id="23" name="TextBox 22"/>
          <p:cNvSpPr txBox="1"/>
          <p:nvPr/>
        </p:nvSpPr>
        <p:spPr>
          <a:xfrm>
            <a:off x="9509760" y="2926080"/>
            <a:ext cx="1920240" cy="274320"/>
          </a:xfrm>
          <a:prstGeom prst="rect">
            <a:avLst/>
          </a:prstGeom>
          <a:noFill/>
        </p:spPr>
        <p:txBody>
          <a:bodyPr wrap="square">
            <a:spAutoFit/>
          </a:bodyPr>
          <a:lstStyle/>
          <a:p>
            <a:pPr algn="l">
              <a:defRPr sz="1000" b="0">
                <a:solidFill>
                  <a:srgbClr val="64748B"/>
                </a:solidFill>
                <a:latin typeface="Calibri"/>
              </a:defRPr>
            </a:pPr>
            <a:r>
              <a:t>after prize budget</a:t>
            </a:r>
          </a:p>
        </p:txBody>
      </p:sp>
      <p:sp>
        <p:nvSpPr>
          <p:cNvPr id="24" name="TextBox 23"/>
          <p:cNvSpPr txBox="1"/>
          <p:nvPr/>
        </p:nvSpPr>
        <p:spPr>
          <a:xfrm>
            <a:off x="914400" y="3840480"/>
            <a:ext cx="10058400" cy="457200"/>
          </a:xfrm>
          <a:prstGeom prst="rect">
            <a:avLst/>
          </a:prstGeom>
          <a:noFill/>
        </p:spPr>
        <p:txBody>
          <a:bodyPr wrap="square">
            <a:spAutoFit/>
          </a:bodyPr>
          <a:lstStyle/>
          <a:p>
            <a:pPr algn="l">
              <a:defRPr sz="1400" b="0">
                <a:solidFill>
                  <a:srgbClr val="64748B"/>
                </a:solidFill>
                <a:latin typeface="Calibri"/>
              </a:defRPr>
            </a:pPr>
            <a:r>
              <a:t>These KPIs auto-calculate from quest data — no manual input needed.</a:t>
            </a:r>
          </a:p>
        </p:txBody>
      </p:sp>
      <p:sp>
        <p:nvSpPr>
          <p:cNvPr id="25" name="TextBox 24"/>
          <p:cNvSpPr txBox="1"/>
          <p:nvPr/>
        </p:nvSpPr>
        <p:spPr>
          <a:xfrm>
            <a:off x="914400" y="4572000"/>
            <a:ext cx="10058400" cy="457200"/>
          </a:xfrm>
          <a:prstGeom prst="rect">
            <a:avLst/>
          </a:prstGeom>
          <a:noFill/>
        </p:spPr>
        <p:txBody>
          <a:bodyPr wrap="square">
            <a:spAutoFit/>
          </a:bodyPr>
          <a:lstStyle/>
          <a:p>
            <a:pPr algn="l">
              <a:defRPr sz="2000" b="1">
                <a:solidFill>
                  <a:srgbClr val="FFFFFF"/>
                </a:solidFill>
                <a:latin typeface="Calibri"/>
              </a:defRPr>
            </a:pPr>
            <a:r>
              <a:t>Category Summary Cards</a:t>
            </a:r>
          </a:p>
        </p:txBody>
      </p:sp>
      <p:sp>
        <p:nvSpPr>
          <p:cNvPr id="26" name="TextBox 25"/>
          <p:cNvSpPr txBox="1"/>
          <p:nvPr/>
        </p:nvSpPr>
        <p:spPr>
          <a:xfrm>
            <a:off x="914400" y="5029200"/>
            <a:ext cx="10058400" cy="731520"/>
          </a:xfrm>
          <a:prstGeom prst="rect">
            <a:avLst/>
          </a:prstGeom>
          <a:noFill/>
        </p:spPr>
        <p:txBody>
          <a:bodyPr wrap="square">
            <a:spAutoFit/>
          </a:bodyPr>
          <a:lstStyle/>
          <a:p>
            <a:pPr algn="l">
              <a:defRPr sz="1400" b="0">
                <a:solidFill>
                  <a:srgbClr val="CBD5E1"/>
                </a:solidFill>
                <a:latin typeface="Calibri"/>
              </a:defRPr>
            </a:pPr>
            <a:r>
              <a:t>Each of the 5 categories shows: number of quests, participating customers, and ROI.</a:t>
            </a:r>
            <a:br/>
            <a:r>
              <a:t>This helps PMs ensure a balanced portfolio across all strategic objectives.</a:t>
            </a:r>
          </a:p>
        </p:txBody>
      </p:sp>
      <p:sp>
        <p:nvSpPr>
          <p:cNvPr id="27" name="TextBox 26"/>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10 / 15</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KEY FEATURES</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Platform Capabilities</a:t>
            </a:r>
          </a:p>
        </p:txBody>
      </p:sp>
      <p:sp>
        <p:nvSpPr>
          <p:cNvPr id="4" name="Rounded Rectangle 3"/>
          <p:cNvSpPr/>
          <p:nvPr/>
        </p:nvSpPr>
        <p:spPr>
          <a:xfrm>
            <a:off x="731520" y="2011680"/>
            <a:ext cx="33832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68680" y="2148840"/>
            <a:ext cx="73152" cy="16459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2194560"/>
            <a:ext cx="2834640" cy="365760"/>
          </a:xfrm>
          <a:prstGeom prst="rect">
            <a:avLst/>
          </a:prstGeom>
          <a:noFill/>
        </p:spPr>
        <p:txBody>
          <a:bodyPr wrap="square">
            <a:spAutoFit/>
          </a:bodyPr>
          <a:lstStyle/>
          <a:p>
            <a:pPr algn="l">
              <a:defRPr sz="1700" b="1">
                <a:solidFill>
                  <a:srgbClr val="FFFFFF"/>
                </a:solidFill>
                <a:latin typeface="Calibri"/>
              </a:defRPr>
            </a:pPr>
            <a:r>
              <a:t>Quest Forge Form</a:t>
            </a:r>
          </a:p>
        </p:txBody>
      </p:sp>
      <p:sp>
        <p:nvSpPr>
          <p:cNvPr id="7" name="TextBox 6"/>
          <p:cNvSpPr txBox="1"/>
          <p:nvPr/>
        </p:nvSpPr>
        <p:spPr>
          <a:xfrm>
            <a:off x="1097280" y="2651760"/>
            <a:ext cx="2834640" cy="1097280"/>
          </a:xfrm>
          <a:prstGeom prst="rect">
            <a:avLst/>
          </a:prstGeom>
          <a:noFill/>
        </p:spPr>
        <p:txBody>
          <a:bodyPr wrap="square">
            <a:spAutoFit/>
          </a:bodyPr>
          <a:lstStyle/>
          <a:p>
            <a:pPr algn="l">
              <a:defRPr sz="1300" b="0">
                <a:solidFill>
                  <a:srgbClr val="CBD5E1"/>
                </a:solidFill>
                <a:latin typeface="Calibri"/>
              </a:defRPr>
            </a:pPr>
            <a:r>
              <a:t>Create/edit quests with title, category, dates,</a:t>
            </a:r>
            <a:br/>
            <a:r>
              <a:t>segment, targets, XP, revenue &amp; budget</a:t>
            </a:r>
          </a:p>
        </p:txBody>
      </p:sp>
      <p:sp>
        <p:nvSpPr>
          <p:cNvPr id="8" name="Rounded Rectangle 7"/>
          <p:cNvSpPr/>
          <p:nvPr/>
        </p:nvSpPr>
        <p:spPr>
          <a:xfrm>
            <a:off x="4389120" y="2011680"/>
            <a:ext cx="33832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26280" y="2148840"/>
            <a:ext cx="73152" cy="1645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0" y="2194560"/>
            <a:ext cx="2834640" cy="365760"/>
          </a:xfrm>
          <a:prstGeom prst="rect">
            <a:avLst/>
          </a:prstGeom>
          <a:noFill/>
        </p:spPr>
        <p:txBody>
          <a:bodyPr wrap="square">
            <a:spAutoFit/>
          </a:bodyPr>
          <a:lstStyle/>
          <a:p>
            <a:pPr algn="l">
              <a:defRPr sz="1700" b="1">
                <a:solidFill>
                  <a:srgbClr val="FFFFFF"/>
                </a:solidFill>
                <a:latin typeface="Calibri"/>
              </a:defRPr>
            </a:pPr>
            <a:r>
              <a:t>Campaign Calendar</a:t>
            </a:r>
          </a:p>
        </p:txBody>
      </p:sp>
      <p:sp>
        <p:nvSpPr>
          <p:cNvPr id="11" name="TextBox 10"/>
          <p:cNvSpPr txBox="1"/>
          <p:nvPr/>
        </p:nvSpPr>
        <p:spPr>
          <a:xfrm>
            <a:off x="4754880" y="2651760"/>
            <a:ext cx="2834640" cy="1097280"/>
          </a:xfrm>
          <a:prstGeom prst="rect">
            <a:avLst/>
          </a:prstGeom>
          <a:noFill/>
        </p:spPr>
        <p:txBody>
          <a:bodyPr wrap="square">
            <a:spAutoFit/>
          </a:bodyPr>
          <a:lstStyle/>
          <a:p>
            <a:pPr algn="l">
              <a:defRPr sz="1300" b="0">
                <a:solidFill>
                  <a:srgbClr val="CBD5E1"/>
                </a:solidFill>
                <a:latin typeface="Calibri"/>
              </a:defRPr>
            </a:pPr>
            <a:r>
              <a:t>Month/week views, filters by category &amp; status,</a:t>
            </a:r>
            <a:br/>
            <a:r>
              <a:t>load indicators, quick-schedule with + button</a:t>
            </a:r>
          </a:p>
        </p:txBody>
      </p:sp>
      <p:sp>
        <p:nvSpPr>
          <p:cNvPr id="12" name="Rounded Rectangle 11"/>
          <p:cNvSpPr/>
          <p:nvPr/>
        </p:nvSpPr>
        <p:spPr>
          <a:xfrm>
            <a:off x="8046720" y="2011680"/>
            <a:ext cx="33832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83880" y="2148840"/>
            <a:ext cx="73152" cy="16459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2194560"/>
            <a:ext cx="2834640" cy="365760"/>
          </a:xfrm>
          <a:prstGeom prst="rect">
            <a:avLst/>
          </a:prstGeom>
          <a:noFill/>
        </p:spPr>
        <p:txBody>
          <a:bodyPr wrap="square">
            <a:spAutoFit/>
          </a:bodyPr>
          <a:lstStyle/>
          <a:p>
            <a:pPr algn="l">
              <a:defRPr sz="1700" b="1">
                <a:solidFill>
                  <a:srgbClr val="FFFFFF"/>
                </a:solidFill>
                <a:latin typeface="Calibri"/>
              </a:defRPr>
            </a:pPr>
            <a:r>
              <a:t>Digital Channel Table</a:t>
            </a:r>
          </a:p>
        </p:txBody>
      </p:sp>
      <p:sp>
        <p:nvSpPr>
          <p:cNvPr id="15" name="TextBox 14"/>
          <p:cNvSpPr txBox="1"/>
          <p:nvPr/>
        </p:nvSpPr>
        <p:spPr>
          <a:xfrm>
            <a:off x="8412480" y="2651760"/>
            <a:ext cx="2834640" cy="1097280"/>
          </a:xfrm>
          <a:prstGeom prst="rect">
            <a:avLst/>
          </a:prstGeom>
          <a:noFill/>
        </p:spPr>
        <p:txBody>
          <a:bodyPr wrap="square">
            <a:spAutoFit/>
          </a:bodyPr>
          <a:lstStyle/>
          <a:p>
            <a:pPr algn="l">
              <a:defRPr sz="1300" b="0">
                <a:solidFill>
                  <a:srgbClr val="CBD5E1"/>
                </a:solidFill>
                <a:latin typeface="Calibri"/>
              </a:defRPr>
            </a:pPr>
            <a:r>
              <a:t>Full quest list with search, sort, filter, paginate,</a:t>
            </a:r>
            <a:br/>
            <a:r>
              <a:t>edit, delete, and CSV export</a:t>
            </a:r>
          </a:p>
        </p:txBody>
      </p:sp>
      <p:sp>
        <p:nvSpPr>
          <p:cNvPr id="16" name="Rounded Rectangle 15"/>
          <p:cNvSpPr/>
          <p:nvPr/>
        </p:nvSpPr>
        <p:spPr>
          <a:xfrm>
            <a:off x="731520" y="4206240"/>
            <a:ext cx="33832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68680" y="4343400"/>
            <a:ext cx="73152" cy="16459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4389120"/>
            <a:ext cx="2834640" cy="365760"/>
          </a:xfrm>
          <a:prstGeom prst="rect">
            <a:avLst/>
          </a:prstGeom>
          <a:noFill/>
        </p:spPr>
        <p:txBody>
          <a:bodyPr wrap="square">
            <a:spAutoFit/>
          </a:bodyPr>
          <a:lstStyle/>
          <a:p>
            <a:pPr algn="l">
              <a:defRPr sz="1700" b="1">
                <a:solidFill>
                  <a:srgbClr val="FFFFFF"/>
                </a:solidFill>
                <a:latin typeface="Calibri"/>
              </a:defRPr>
            </a:pPr>
            <a:r>
              <a:t>Customer Ranking</a:t>
            </a:r>
          </a:p>
        </p:txBody>
      </p:sp>
      <p:sp>
        <p:nvSpPr>
          <p:cNvPr id="19" name="TextBox 18"/>
          <p:cNvSpPr txBox="1"/>
          <p:nvPr/>
        </p:nvSpPr>
        <p:spPr>
          <a:xfrm>
            <a:off x="1097280" y="4846320"/>
            <a:ext cx="2834640" cy="1097280"/>
          </a:xfrm>
          <a:prstGeom prst="rect">
            <a:avLst/>
          </a:prstGeom>
          <a:noFill/>
        </p:spPr>
        <p:txBody>
          <a:bodyPr wrap="square">
            <a:spAutoFit/>
          </a:bodyPr>
          <a:lstStyle/>
          <a:p>
            <a:pPr algn="l">
              <a:defRPr sz="1300" b="0">
                <a:solidFill>
                  <a:srgbClr val="CBD5E1"/>
                </a:solidFill>
                <a:latin typeface="Calibri"/>
              </a:defRPr>
            </a:pPr>
            <a:r>
              <a:t>Top 10 leaderboard by XP, completion &amp; impact;</a:t>
            </a:r>
            <a:br/>
            <a:r>
              <a:t>Diamond / Platinum / Gold / Silver tiers</a:t>
            </a:r>
          </a:p>
        </p:txBody>
      </p:sp>
      <p:sp>
        <p:nvSpPr>
          <p:cNvPr id="20" name="Rounded Rectangle 19"/>
          <p:cNvSpPr/>
          <p:nvPr/>
        </p:nvSpPr>
        <p:spPr>
          <a:xfrm>
            <a:off x="4389120" y="4206240"/>
            <a:ext cx="33832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26280" y="4343400"/>
            <a:ext cx="73152" cy="1645920"/>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0" y="4389120"/>
            <a:ext cx="2834640" cy="365760"/>
          </a:xfrm>
          <a:prstGeom prst="rect">
            <a:avLst/>
          </a:prstGeom>
          <a:noFill/>
        </p:spPr>
        <p:txBody>
          <a:bodyPr wrap="square">
            <a:spAutoFit/>
          </a:bodyPr>
          <a:lstStyle/>
          <a:p>
            <a:pPr algn="l">
              <a:defRPr sz="1700" b="1">
                <a:solidFill>
                  <a:srgbClr val="FFFFFF"/>
                </a:solidFill>
                <a:latin typeface="Calibri"/>
              </a:defRPr>
            </a:pPr>
            <a:r>
              <a:t>Analytics Suite</a:t>
            </a:r>
          </a:p>
        </p:txBody>
      </p:sp>
      <p:sp>
        <p:nvSpPr>
          <p:cNvPr id="23" name="TextBox 22"/>
          <p:cNvSpPr txBox="1"/>
          <p:nvPr/>
        </p:nvSpPr>
        <p:spPr>
          <a:xfrm>
            <a:off x="4754880" y="4846320"/>
            <a:ext cx="2834640" cy="1097280"/>
          </a:xfrm>
          <a:prstGeom prst="rect">
            <a:avLst/>
          </a:prstGeom>
          <a:noFill/>
        </p:spPr>
        <p:txBody>
          <a:bodyPr wrap="square">
            <a:spAutoFit/>
          </a:bodyPr>
          <a:lstStyle/>
          <a:p>
            <a:pPr algn="l">
              <a:defRPr sz="1300" b="0">
                <a:solidFill>
                  <a:srgbClr val="CBD5E1"/>
                </a:solidFill>
                <a:latin typeface="Calibri"/>
              </a:defRPr>
            </a:pPr>
            <a:r>
              <a:t>Revenue forecast, quest mix donut, customer</a:t>
            </a:r>
            <a:br/>
            <a:r>
              <a:t>funnel, and strategic KPI radar scorecard</a:t>
            </a:r>
          </a:p>
        </p:txBody>
      </p:sp>
      <p:sp>
        <p:nvSpPr>
          <p:cNvPr id="24" name="Rounded Rectangle 23"/>
          <p:cNvSpPr/>
          <p:nvPr/>
        </p:nvSpPr>
        <p:spPr>
          <a:xfrm>
            <a:off x="8046720" y="4206240"/>
            <a:ext cx="33832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183880" y="4343400"/>
            <a:ext cx="73152" cy="1645920"/>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4389120"/>
            <a:ext cx="2834640" cy="365760"/>
          </a:xfrm>
          <a:prstGeom prst="rect">
            <a:avLst/>
          </a:prstGeom>
          <a:noFill/>
        </p:spPr>
        <p:txBody>
          <a:bodyPr wrap="square">
            <a:spAutoFit/>
          </a:bodyPr>
          <a:lstStyle/>
          <a:p>
            <a:pPr algn="l">
              <a:defRPr sz="1700" b="1">
                <a:solidFill>
                  <a:srgbClr val="FFFFFF"/>
                </a:solidFill>
                <a:latin typeface="Calibri"/>
              </a:defRPr>
            </a:pPr>
            <a:r>
              <a:t>Data Persistence</a:t>
            </a:r>
          </a:p>
        </p:txBody>
      </p:sp>
      <p:sp>
        <p:nvSpPr>
          <p:cNvPr id="27" name="TextBox 26"/>
          <p:cNvSpPr txBox="1"/>
          <p:nvPr/>
        </p:nvSpPr>
        <p:spPr>
          <a:xfrm>
            <a:off x="8412480" y="4846320"/>
            <a:ext cx="2834640" cy="1097280"/>
          </a:xfrm>
          <a:prstGeom prst="rect">
            <a:avLst/>
          </a:prstGeom>
          <a:noFill/>
        </p:spPr>
        <p:txBody>
          <a:bodyPr wrap="square">
            <a:spAutoFit/>
          </a:bodyPr>
          <a:lstStyle/>
          <a:p>
            <a:pPr algn="l">
              <a:defRPr sz="1300" b="0">
                <a:solidFill>
                  <a:srgbClr val="CBD5E1"/>
                </a:solidFill>
                <a:latin typeface="Calibri"/>
              </a:defRPr>
            </a:pPr>
            <a:r>
              <a:t>Quests stored in browser localStorage;</a:t>
            </a:r>
            <a:br/>
            <a:r>
              <a:t>reload sample data with one click</a:t>
            </a:r>
          </a:p>
        </p:txBody>
      </p:sp>
      <p:sp>
        <p:nvSpPr>
          <p:cNvPr id="28" name="TextBox 27"/>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11 / 15</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SAMPLE QUESTS</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Pre-loaded Campaign Examples</a:t>
            </a:r>
          </a:p>
        </p:txBody>
      </p:sp>
      <p:sp>
        <p:nvSpPr>
          <p:cNvPr id="4" name="Rounded Rectangle 3"/>
          <p:cNvSpPr/>
          <p:nvPr/>
        </p:nvSpPr>
        <p:spPr>
          <a:xfrm>
            <a:off x="914400" y="1828800"/>
            <a:ext cx="10332720" cy="411480"/>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874519"/>
            <a:ext cx="2743200" cy="320040"/>
          </a:xfrm>
          <a:prstGeom prst="rect">
            <a:avLst/>
          </a:prstGeom>
          <a:noFill/>
        </p:spPr>
        <p:txBody>
          <a:bodyPr wrap="square">
            <a:spAutoFit/>
          </a:bodyPr>
          <a:lstStyle/>
          <a:p>
            <a:pPr algn="l">
              <a:defRPr sz="1200" b="1">
                <a:solidFill>
                  <a:srgbClr val="FFFFFF"/>
                </a:solidFill>
                <a:latin typeface="Calibri"/>
              </a:defRPr>
            </a:pPr>
            <a:r>
              <a:t>Quest</a:t>
            </a:r>
          </a:p>
        </p:txBody>
      </p:sp>
      <p:sp>
        <p:nvSpPr>
          <p:cNvPr id="6" name="TextBox 5"/>
          <p:cNvSpPr txBox="1"/>
          <p:nvPr/>
        </p:nvSpPr>
        <p:spPr>
          <a:xfrm>
            <a:off x="3840480" y="1874519"/>
            <a:ext cx="1371600" cy="320040"/>
          </a:xfrm>
          <a:prstGeom prst="rect">
            <a:avLst/>
          </a:prstGeom>
          <a:noFill/>
        </p:spPr>
        <p:txBody>
          <a:bodyPr wrap="square">
            <a:spAutoFit/>
          </a:bodyPr>
          <a:lstStyle/>
          <a:p>
            <a:pPr algn="l">
              <a:defRPr sz="1200" b="1">
                <a:solidFill>
                  <a:srgbClr val="FFFFFF"/>
                </a:solidFill>
                <a:latin typeface="Calibri"/>
              </a:defRPr>
            </a:pPr>
            <a:r>
              <a:t>Category</a:t>
            </a:r>
          </a:p>
        </p:txBody>
      </p:sp>
      <p:sp>
        <p:nvSpPr>
          <p:cNvPr id="7" name="TextBox 6"/>
          <p:cNvSpPr txBox="1"/>
          <p:nvPr/>
        </p:nvSpPr>
        <p:spPr>
          <a:xfrm>
            <a:off x="5303520" y="1874519"/>
            <a:ext cx="3657600" cy="320040"/>
          </a:xfrm>
          <a:prstGeom prst="rect">
            <a:avLst/>
          </a:prstGeom>
          <a:noFill/>
        </p:spPr>
        <p:txBody>
          <a:bodyPr wrap="square">
            <a:spAutoFit/>
          </a:bodyPr>
          <a:lstStyle/>
          <a:p>
            <a:pPr algn="l">
              <a:defRPr sz="1200" b="1">
                <a:solidFill>
                  <a:srgbClr val="FFFFFF"/>
                </a:solidFill>
                <a:latin typeface="Calibri"/>
              </a:defRPr>
            </a:pPr>
            <a:r>
              <a:t>Customer Action</a:t>
            </a:r>
          </a:p>
        </p:txBody>
      </p:sp>
      <p:sp>
        <p:nvSpPr>
          <p:cNvPr id="8" name="TextBox 7"/>
          <p:cNvSpPr txBox="1"/>
          <p:nvPr/>
        </p:nvSpPr>
        <p:spPr>
          <a:xfrm>
            <a:off x="9144000" y="1874519"/>
            <a:ext cx="1828800" cy="320040"/>
          </a:xfrm>
          <a:prstGeom prst="rect">
            <a:avLst/>
          </a:prstGeom>
          <a:noFill/>
        </p:spPr>
        <p:txBody>
          <a:bodyPr wrap="square">
            <a:spAutoFit/>
          </a:bodyPr>
          <a:lstStyle/>
          <a:p>
            <a:pPr algn="l">
              <a:defRPr sz="1200" b="1">
                <a:solidFill>
                  <a:srgbClr val="FFFFFF"/>
                </a:solidFill>
                <a:latin typeface="Calibri"/>
              </a:defRPr>
            </a:pPr>
            <a:r>
              <a:t>Target</a:t>
            </a:r>
          </a:p>
        </p:txBody>
      </p:sp>
      <p:sp>
        <p:nvSpPr>
          <p:cNvPr id="9" name="Rounded Rectangle 8"/>
          <p:cNvSpPr/>
          <p:nvPr/>
        </p:nvSpPr>
        <p:spPr>
          <a:xfrm>
            <a:off x="914400" y="2286000"/>
            <a:ext cx="1033272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350008"/>
            <a:ext cx="2743200" cy="320040"/>
          </a:xfrm>
          <a:prstGeom prst="rect">
            <a:avLst/>
          </a:prstGeom>
          <a:noFill/>
        </p:spPr>
        <p:txBody>
          <a:bodyPr wrap="square">
            <a:spAutoFit/>
          </a:bodyPr>
          <a:lstStyle/>
          <a:p>
            <a:pPr algn="l">
              <a:defRPr sz="1300" b="1">
                <a:solidFill>
                  <a:srgbClr val="FFFFFF"/>
                </a:solidFill>
                <a:latin typeface="Calibri"/>
              </a:defRPr>
            </a:pPr>
            <a:r>
              <a:t>Salary Anchor</a:t>
            </a:r>
          </a:p>
        </p:txBody>
      </p:sp>
      <p:sp>
        <p:nvSpPr>
          <p:cNvPr id="11" name="TextBox 10"/>
          <p:cNvSpPr txBox="1"/>
          <p:nvPr/>
        </p:nvSpPr>
        <p:spPr>
          <a:xfrm>
            <a:off x="3840480" y="2350008"/>
            <a:ext cx="1371600" cy="320040"/>
          </a:xfrm>
          <a:prstGeom prst="rect">
            <a:avLst/>
          </a:prstGeom>
          <a:noFill/>
        </p:spPr>
        <p:txBody>
          <a:bodyPr wrap="square">
            <a:spAutoFit/>
          </a:bodyPr>
          <a:lstStyle/>
          <a:p>
            <a:pPr algn="l">
              <a:defRPr sz="1200" b="0">
                <a:solidFill>
                  <a:srgbClr val="3B82F6"/>
                </a:solidFill>
                <a:latin typeface="Calibri"/>
              </a:defRPr>
            </a:pPr>
            <a:r>
              <a:t>CASA</a:t>
            </a:r>
          </a:p>
        </p:txBody>
      </p:sp>
      <p:sp>
        <p:nvSpPr>
          <p:cNvPr id="12" name="TextBox 11"/>
          <p:cNvSpPr txBox="1"/>
          <p:nvPr/>
        </p:nvSpPr>
        <p:spPr>
          <a:xfrm>
            <a:off x="5303520" y="2350008"/>
            <a:ext cx="3657600" cy="320040"/>
          </a:xfrm>
          <a:prstGeom prst="rect">
            <a:avLst/>
          </a:prstGeom>
          <a:noFill/>
        </p:spPr>
        <p:txBody>
          <a:bodyPr wrap="square">
            <a:spAutoFit/>
          </a:bodyPr>
          <a:lstStyle/>
          <a:p>
            <a:pPr algn="l">
              <a:defRPr sz="1200" b="0">
                <a:solidFill>
                  <a:srgbClr val="CBD5E1"/>
                </a:solidFill>
                <a:latin typeface="Calibri"/>
              </a:defRPr>
            </a:pPr>
            <a:r>
              <a:t>Move salary to the bank</a:t>
            </a:r>
          </a:p>
        </p:txBody>
      </p:sp>
      <p:sp>
        <p:nvSpPr>
          <p:cNvPr id="13" name="TextBox 12"/>
          <p:cNvSpPr txBox="1"/>
          <p:nvPr/>
        </p:nvSpPr>
        <p:spPr>
          <a:xfrm>
            <a:off x="9144000" y="2350008"/>
            <a:ext cx="1828800" cy="320040"/>
          </a:xfrm>
          <a:prstGeom prst="rect">
            <a:avLst/>
          </a:prstGeom>
          <a:noFill/>
        </p:spPr>
        <p:txBody>
          <a:bodyPr wrap="square">
            <a:spAutoFit/>
          </a:bodyPr>
          <a:lstStyle/>
          <a:p>
            <a:pPr algn="l">
              <a:defRPr sz="1200" b="0">
                <a:solidFill>
                  <a:srgbClr val="10B981"/>
                </a:solidFill>
                <a:latin typeface="Calibri"/>
              </a:defRPr>
            </a:pPr>
            <a:r>
              <a:t>42K customers</a:t>
            </a:r>
          </a:p>
        </p:txBody>
      </p:sp>
      <p:sp>
        <p:nvSpPr>
          <p:cNvPr id="14" name="Rounded Rectangle 13"/>
          <p:cNvSpPr/>
          <p:nvPr/>
        </p:nvSpPr>
        <p:spPr>
          <a:xfrm>
            <a:off x="914400" y="2788920"/>
            <a:ext cx="10332720" cy="457200"/>
          </a:xfrm>
          <a:prstGeom prst="roundRect">
            <a:avLst/>
          </a:prstGeom>
          <a:solidFill>
            <a:srgbClr val="17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2852927"/>
            <a:ext cx="2743200" cy="320040"/>
          </a:xfrm>
          <a:prstGeom prst="rect">
            <a:avLst/>
          </a:prstGeom>
          <a:noFill/>
        </p:spPr>
        <p:txBody>
          <a:bodyPr wrap="square">
            <a:spAutoFit/>
          </a:bodyPr>
          <a:lstStyle/>
          <a:p>
            <a:pPr algn="l">
              <a:defRPr sz="1300" b="1">
                <a:solidFill>
                  <a:srgbClr val="FFFFFF"/>
                </a:solidFill>
                <a:latin typeface="Calibri"/>
              </a:defRPr>
            </a:pPr>
            <a:r>
              <a:t>Bill Pay Streak</a:t>
            </a:r>
          </a:p>
        </p:txBody>
      </p:sp>
      <p:sp>
        <p:nvSpPr>
          <p:cNvPr id="16" name="TextBox 15"/>
          <p:cNvSpPr txBox="1"/>
          <p:nvPr/>
        </p:nvSpPr>
        <p:spPr>
          <a:xfrm>
            <a:off x="3840480" y="2852927"/>
            <a:ext cx="1371600" cy="320040"/>
          </a:xfrm>
          <a:prstGeom prst="rect">
            <a:avLst/>
          </a:prstGeom>
          <a:noFill/>
        </p:spPr>
        <p:txBody>
          <a:bodyPr wrap="square">
            <a:spAutoFit/>
          </a:bodyPr>
          <a:lstStyle/>
          <a:p>
            <a:pPr algn="l">
              <a:defRPr sz="1200" b="0">
                <a:solidFill>
                  <a:srgbClr val="3B82F6"/>
                </a:solidFill>
                <a:latin typeface="Calibri"/>
              </a:defRPr>
            </a:pPr>
            <a:r>
              <a:t>ENGAGE</a:t>
            </a:r>
          </a:p>
        </p:txBody>
      </p:sp>
      <p:sp>
        <p:nvSpPr>
          <p:cNvPr id="17" name="TextBox 16"/>
          <p:cNvSpPr txBox="1"/>
          <p:nvPr/>
        </p:nvSpPr>
        <p:spPr>
          <a:xfrm>
            <a:off x="5303520" y="2852927"/>
            <a:ext cx="3657600" cy="320040"/>
          </a:xfrm>
          <a:prstGeom prst="rect">
            <a:avLst/>
          </a:prstGeom>
          <a:noFill/>
        </p:spPr>
        <p:txBody>
          <a:bodyPr wrap="square">
            <a:spAutoFit/>
          </a:bodyPr>
          <a:lstStyle/>
          <a:p>
            <a:pPr algn="l">
              <a:defRPr sz="1200" b="0">
                <a:solidFill>
                  <a:srgbClr val="CBD5E1"/>
                </a:solidFill>
                <a:latin typeface="Calibri"/>
              </a:defRPr>
            </a:pPr>
            <a:r>
              <a:t>Pay 2 bills via mobile</a:t>
            </a:r>
          </a:p>
        </p:txBody>
      </p:sp>
      <p:sp>
        <p:nvSpPr>
          <p:cNvPr id="18" name="TextBox 17"/>
          <p:cNvSpPr txBox="1"/>
          <p:nvPr/>
        </p:nvSpPr>
        <p:spPr>
          <a:xfrm>
            <a:off x="9144000" y="2852927"/>
            <a:ext cx="1828800" cy="320040"/>
          </a:xfrm>
          <a:prstGeom prst="rect">
            <a:avLst/>
          </a:prstGeom>
          <a:noFill/>
        </p:spPr>
        <p:txBody>
          <a:bodyPr wrap="square">
            <a:spAutoFit/>
          </a:bodyPr>
          <a:lstStyle/>
          <a:p>
            <a:pPr algn="l">
              <a:defRPr sz="1200" b="0">
                <a:solidFill>
                  <a:srgbClr val="10B981"/>
                </a:solidFill>
                <a:latin typeface="Calibri"/>
              </a:defRPr>
            </a:pPr>
            <a:r>
              <a:t>55K customers</a:t>
            </a:r>
          </a:p>
        </p:txBody>
      </p:sp>
      <p:sp>
        <p:nvSpPr>
          <p:cNvPr id="19" name="Rounded Rectangle 18"/>
          <p:cNvSpPr/>
          <p:nvPr/>
        </p:nvSpPr>
        <p:spPr>
          <a:xfrm>
            <a:off x="914400" y="3291840"/>
            <a:ext cx="1033272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3355848"/>
            <a:ext cx="2743200" cy="320040"/>
          </a:xfrm>
          <a:prstGeom prst="rect">
            <a:avLst/>
          </a:prstGeom>
          <a:noFill/>
        </p:spPr>
        <p:txBody>
          <a:bodyPr wrap="square">
            <a:spAutoFit/>
          </a:bodyPr>
          <a:lstStyle/>
          <a:p>
            <a:pPr algn="l">
              <a:defRPr sz="1300" b="1">
                <a:solidFill>
                  <a:srgbClr val="FFFFFF"/>
                </a:solidFill>
                <a:latin typeface="Calibri"/>
              </a:defRPr>
            </a:pPr>
            <a:r>
              <a:t>Navigate in the App</a:t>
            </a:r>
          </a:p>
        </p:txBody>
      </p:sp>
      <p:sp>
        <p:nvSpPr>
          <p:cNvPr id="21" name="TextBox 20"/>
          <p:cNvSpPr txBox="1"/>
          <p:nvPr/>
        </p:nvSpPr>
        <p:spPr>
          <a:xfrm>
            <a:off x="3840480" y="3355848"/>
            <a:ext cx="1371600" cy="320040"/>
          </a:xfrm>
          <a:prstGeom prst="rect">
            <a:avLst/>
          </a:prstGeom>
          <a:noFill/>
        </p:spPr>
        <p:txBody>
          <a:bodyPr wrap="square">
            <a:spAutoFit/>
          </a:bodyPr>
          <a:lstStyle/>
          <a:p>
            <a:pPr algn="l">
              <a:defRPr sz="1200" b="0">
                <a:solidFill>
                  <a:srgbClr val="3B82F6"/>
                </a:solidFill>
                <a:latin typeface="Calibri"/>
              </a:defRPr>
            </a:pPr>
            <a:r>
              <a:t>SPEND</a:t>
            </a:r>
          </a:p>
        </p:txBody>
      </p:sp>
      <p:sp>
        <p:nvSpPr>
          <p:cNvPr id="22" name="TextBox 21"/>
          <p:cNvSpPr txBox="1"/>
          <p:nvPr/>
        </p:nvSpPr>
        <p:spPr>
          <a:xfrm>
            <a:off x="5303520" y="3355848"/>
            <a:ext cx="3657600" cy="320040"/>
          </a:xfrm>
          <a:prstGeom prst="rect">
            <a:avLst/>
          </a:prstGeom>
          <a:noFill/>
        </p:spPr>
        <p:txBody>
          <a:bodyPr wrap="square">
            <a:spAutoFit/>
          </a:bodyPr>
          <a:lstStyle/>
          <a:p>
            <a:pPr algn="l">
              <a:defRPr sz="1200" b="0">
                <a:solidFill>
                  <a:srgbClr val="CBD5E1"/>
                </a:solidFill>
                <a:latin typeface="Calibri"/>
              </a:defRPr>
            </a:pPr>
            <a:r>
              <a:t>Complete guided app tutorial</a:t>
            </a:r>
          </a:p>
        </p:txBody>
      </p:sp>
      <p:sp>
        <p:nvSpPr>
          <p:cNvPr id="23" name="TextBox 22"/>
          <p:cNvSpPr txBox="1"/>
          <p:nvPr/>
        </p:nvSpPr>
        <p:spPr>
          <a:xfrm>
            <a:off x="9144000" y="3355848"/>
            <a:ext cx="1828800" cy="320040"/>
          </a:xfrm>
          <a:prstGeom prst="rect">
            <a:avLst/>
          </a:prstGeom>
          <a:noFill/>
        </p:spPr>
        <p:txBody>
          <a:bodyPr wrap="square">
            <a:spAutoFit/>
          </a:bodyPr>
          <a:lstStyle/>
          <a:p>
            <a:pPr algn="l">
              <a:defRPr sz="1200" b="0">
                <a:solidFill>
                  <a:srgbClr val="10B981"/>
                </a:solidFill>
                <a:latin typeface="Calibri"/>
              </a:defRPr>
            </a:pPr>
            <a:r>
              <a:t>36K customers</a:t>
            </a:r>
          </a:p>
        </p:txBody>
      </p:sp>
      <p:sp>
        <p:nvSpPr>
          <p:cNvPr id="24" name="Rounded Rectangle 23"/>
          <p:cNvSpPr/>
          <p:nvPr/>
        </p:nvSpPr>
        <p:spPr>
          <a:xfrm>
            <a:off x="914400" y="3794760"/>
            <a:ext cx="10332720" cy="457200"/>
          </a:xfrm>
          <a:prstGeom prst="roundRect">
            <a:avLst/>
          </a:prstGeom>
          <a:solidFill>
            <a:srgbClr val="17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97280" y="3858768"/>
            <a:ext cx="2743200" cy="320040"/>
          </a:xfrm>
          <a:prstGeom prst="rect">
            <a:avLst/>
          </a:prstGeom>
          <a:noFill/>
        </p:spPr>
        <p:txBody>
          <a:bodyPr wrap="square">
            <a:spAutoFit/>
          </a:bodyPr>
          <a:lstStyle/>
          <a:p>
            <a:pPr algn="l">
              <a:defRPr sz="1300" b="1">
                <a:solidFill>
                  <a:srgbClr val="FFFFFF"/>
                </a:solidFill>
                <a:latin typeface="Calibri"/>
              </a:defRPr>
            </a:pPr>
            <a:r>
              <a:t>Starbucks Coffee</a:t>
            </a:r>
          </a:p>
        </p:txBody>
      </p:sp>
      <p:sp>
        <p:nvSpPr>
          <p:cNvPr id="26" name="TextBox 25"/>
          <p:cNvSpPr txBox="1"/>
          <p:nvPr/>
        </p:nvSpPr>
        <p:spPr>
          <a:xfrm>
            <a:off x="3840480" y="3858768"/>
            <a:ext cx="1371600" cy="320040"/>
          </a:xfrm>
          <a:prstGeom prst="rect">
            <a:avLst/>
          </a:prstGeom>
          <a:noFill/>
        </p:spPr>
        <p:txBody>
          <a:bodyPr wrap="square">
            <a:spAutoFit/>
          </a:bodyPr>
          <a:lstStyle/>
          <a:p>
            <a:pPr algn="l">
              <a:defRPr sz="1200" b="0">
                <a:solidFill>
                  <a:srgbClr val="3B82F6"/>
                </a:solidFill>
                <a:latin typeface="Calibri"/>
              </a:defRPr>
            </a:pPr>
            <a:r>
              <a:t>SPEND</a:t>
            </a:r>
          </a:p>
        </p:txBody>
      </p:sp>
      <p:sp>
        <p:nvSpPr>
          <p:cNvPr id="27" name="TextBox 26"/>
          <p:cNvSpPr txBox="1"/>
          <p:nvPr/>
        </p:nvSpPr>
        <p:spPr>
          <a:xfrm>
            <a:off x="5303520" y="3858768"/>
            <a:ext cx="3657600" cy="320040"/>
          </a:xfrm>
          <a:prstGeom prst="rect">
            <a:avLst/>
          </a:prstGeom>
          <a:noFill/>
        </p:spPr>
        <p:txBody>
          <a:bodyPr wrap="square">
            <a:spAutoFit/>
          </a:bodyPr>
          <a:lstStyle/>
          <a:p>
            <a:pPr algn="l">
              <a:defRPr sz="1200" b="0">
                <a:solidFill>
                  <a:srgbClr val="CBD5E1"/>
                </a:solidFill>
                <a:latin typeface="Calibri"/>
              </a:defRPr>
            </a:pPr>
            <a:r>
              <a:t>Buy coffee with bank card</a:t>
            </a:r>
          </a:p>
        </p:txBody>
      </p:sp>
      <p:sp>
        <p:nvSpPr>
          <p:cNvPr id="28" name="TextBox 27"/>
          <p:cNvSpPr txBox="1"/>
          <p:nvPr/>
        </p:nvSpPr>
        <p:spPr>
          <a:xfrm>
            <a:off x="9144000" y="3858768"/>
            <a:ext cx="1828800" cy="320040"/>
          </a:xfrm>
          <a:prstGeom prst="rect">
            <a:avLst/>
          </a:prstGeom>
          <a:noFill/>
        </p:spPr>
        <p:txBody>
          <a:bodyPr wrap="square">
            <a:spAutoFit/>
          </a:bodyPr>
          <a:lstStyle/>
          <a:p>
            <a:pPr algn="l">
              <a:defRPr sz="1200" b="0">
                <a:solidFill>
                  <a:srgbClr val="10B981"/>
                </a:solidFill>
                <a:latin typeface="Calibri"/>
              </a:defRPr>
            </a:pPr>
            <a:r>
              <a:t>28K customers</a:t>
            </a:r>
          </a:p>
        </p:txBody>
      </p:sp>
      <p:sp>
        <p:nvSpPr>
          <p:cNvPr id="29" name="Rounded Rectangle 28"/>
          <p:cNvSpPr/>
          <p:nvPr/>
        </p:nvSpPr>
        <p:spPr>
          <a:xfrm>
            <a:off x="914400" y="4297680"/>
            <a:ext cx="1033272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97280" y="4361688"/>
            <a:ext cx="2743200" cy="320040"/>
          </a:xfrm>
          <a:prstGeom prst="rect">
            <a:avLst/>
          </a:prstGeom>
          <a:noFill/>
        </p:spPr>
        <p:txBody>
          <a:bodyPr wrap="square">
            <a:spAutoFit/>
          </a:bodyPr>
          <a:lstStyle/>
          <a:p>
            <a:pPr algn="l">
              <a:defRPr sz="1300" b="1">
                <a:solidFill>
                  <a:srgbClr val="FFFFFF"/>
                </a:solidFill>
                <a:latin typeface="Calibri"/>
              </a:defRPr>
            </a:pPr>
            <a:r>
              <a:t>Phishing Fighter</a:t>
            </a:r>
          </a:p>
        </p:txBody>
      </p:sp>
      <p:sp>
        <p:nvSpPr>
          <p:cNvPr id="31" name="TextBox 30"/>
          <p:cNvSpPr txBox="1"/>
          <p:nvPr/>
        </p:nvSpPr>
        <p:spPr>
          <a:xfrm>
            <a:off x="3840480" y="4361688"/>
            <a:ext cx="1371600" cy="320040"/>
          </a:xfrm>
          <a:prstGeom prst="rect">
            <a:avLst/>
          </a:prstGeom>
          <a:noFill/>
        </p:spPr>
        <p:txBody>
          <a:bodyPr wrap="square">
            <a:spAutoFit/>
          </a:bodyPr>
          <a:lstStyle/>
          <a:p>
            <a:pPr algn="l">
              <a:defRPr sz="1200" b="0">
                <a:solidFill>
                  <a:srgbClr val="3B82F6"/>
                </a:solidFill>
                <a:latin typeface="Calibri"/>
              </a:defRPr>
            </a:pPr>
            <a:r>
              <a:t>RISK</a:t>
            </a:r>
          </a:p>
        </p:txBody>
      </p:sp>
      <p:sp>
        <p:nvSpPr>
          <p:cNvPr id="32" name="TextBox 31"/>
          <p:cNvSpPr txBox="1"/>
          <p:nvPr/>
        </p:nvSpPr>
        <p:spPr>
          <a:xfrm>
            <a:off x="5303520" y="4361688"/>
            <a:ext cx="3657600" cy="320040"/>
          </a:xfrm>
          <a:prstGeom prst="rect">
            <a:avLst/>
          </a:prstGeom>
          <a:noFill/>
        </p:spPr>
        <p:txBody>
          <a:bodyPr wrap="square">
            <a:spAutoFit/>
          </a:bodyPr>
          <a:lstStyle/>
          <a:p>
            <a:pPr algn="l">
              <a:defRPr sz="1200" b="0">
                <a:solidFill>
                  <a:srgbClr val="CBD5E1"/>
                </a:solidFill>
                <a:latin typeface="Calibri"/>
              </a:defRPr>
            </a:pPr>
            <a:r>
              <a:t>Report phishing attempts</a:t>
            </a:r>
          </a:p>
        </p:txBody>
      </p:sp>
      <p:sp>
        <p:nvSpPr>
          <p:cNvPr id="33" name="TextBox 32"/>
          <p:cNvSpPr txBox="1"/>
          <p:nvPr/>
        </p:nvSpPr>
        <p:spPr>
          <a:xfrm>
            <a:off x="9144000" y="4361688"/>
            <a:ext cx="1828800" cy="320040"/>
          </a:xfrm>
          <a:prstGeom prst="rect">
            <a:avLst/>
          </a:prstGeom>
          <a:noFill/>
        </p:spPr>
        <p:txBody>
          <a:bodyPr wrap="square">
            <a:spAutoFit/>
          </a:bodyPr>
          <a:lstStyle/>
          <a:p>
            <a:pPr algn="l">
              <a:defRPr sz="1200" b="0">
                <a:solidFill>
                  <a:srgbClr val="10B981"/>
                </a:solidFill>
                <a:latin typeface="Calibri"/>
              </a:defRPr>
            </a:pPr>
            <a:r>
              <a:t>75K customers</a:t>
            </a:r>
          </a:p>
        </p:txBody>
      </p:sp>
      <p:sp>
        <p:nvSpPr>
          <p:cNvPr id="34" name="Rounded Rectangle 33"/>
          <p:cNvSpPr/>
          <p:nvPr/>
        </p:nvSpPr>
        <p:spPr>
          <a:xfrm>
            <a:off x="914400" y="4800600"/>
            <a:ext cx="10332720" cy="457200"/>
          </a:xfrm>
          <a:prstGeom prst="roundRect">
            <a:avLst/>
          </a:prstGeom>
          <a:solidFill>
            <a:srgbClr val="17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97280" y="4864608"/>
            <a:ext cx="2743200" cy="320040"/>
          </a:xfrm>
          <a:prstGeom prst="rect">
            <a:avLst/>
          </a:prstGeom>
          <a:noFill/>
        </p:spPr>
        <p:txBody>
          <a:bodyPr wrap="square">
            <a:spAutoFit/>
          </a:bodyPr>
          <a:lstStyle/>
          <a:p>
            <a:pPr algn="l">
              <a:defRPr sz="1300" b="1">
                <a:solidFill>
                  <a:srgbClr val="FFFFFF"/>
                </a:solidFill>
                <a:latin typeface="Calibri"/>
              </a:defRPr>
            </a:pPr>
            <a:r>
              <a:t>Pay CC On Time</a:t>
            </a:r>
          </a:p>
        </p:txBody>
      </p:sp>
      <p:sp>
        <p:nvSpPr>
          <p:cNvPr id="36" name="TextBox 35"/>
          <p:cNvSpPr txBox="1"/>
          <p:nvPr/>
        </p:nvSpPr>
        <p:spPr>
          <a:xfrm>
            <a:off x="3840480" y="4864608"/>
            <a:ext cx="1371600" cy="320040"/>
          </a:xfrm>
          <a:prstGeom prst="rect">
            <a:avLst/>
          </a:prstGeom>
          <a:noFill/>
        </p:spPr>
        <p:txBody>
          <a:bodyPr wrap="square">
            <a:spAutoFit/>
          </a:bodyPr>
          <a:lstStyle/>
          <a:p>
            <a:pPr algn="l">
              <a:defRPr sz="1200" b="0">
                <a:solidFill>
                  <a:srgbClr val="3B82F6"/>
                </a:solidFill>
                <a:latin typeface="Calibri"/>
              </a:defRPr>
            </a:pPr>
            <a:r>
              <a:t>RISK</a:t>
            </a:r>
          </a:p>
        </p:txBody>
      </p:sp>
      <p:sp>
        <p:nvSpPr>
          <p:cNvPr id="37" name="TextBox 36"/>
          <p:cNvSpPr txBox="1"/>
          <p:nvPr/>
        </p:nvSpPr>
        <p:spPr>
          <a:xfrm>
            <a:off x="5303520" y="4864608"/>
            <a:ext cx="3657600" cy="320040"/>
          </a:xfrm>
          <a:prstGeom prst="rect">
            <a:avLst/>
          </a:prstGeom>
          <a:noFill/>
        </p:spPr>
        <p:txBody>
          <a:bodyPr wrap="square">
            <a:spAutoFit/>
          </a:bodyPr>
          <a:lstStyle/>
          <a:p>
            <a:pPr algn="l">
              <a:defRPr sz="1200" b="0">
                <a:solidFill>
                  <a:srgbClr val="CBD5E1"/>
                </a:solidFill>
                <a:latin typeface="Calibri"/>
              </a:defRPr>
            </a:pPr>
            <a:r>
              <a:t>Timely credit card payment</a:t>
            </a:r>
          </a:p>
        </p:txBody>
      </p:sp>
      <p:sp>
        <p:nvSpPr>
          <p:cNvPr id="38" name="TextBox 37"/>
          <p:cNvSpPr txBox="1"/>
          <p:nvPr/>
        </p:nvSpPr>
        <p:spPr>
          <a:xfrm>
            <a:off x="9144000" y="4864608"/>
            <a:ext cx="1828800" cy="320040"/>
          </a:xfrm>
          <a:prstGeom prst="rect">
            <a:avLst/>
          </a:prstGeom>
          <a:noFill/>
        </p:spPr>
        <p:txBody>
          <a:bodyPr wrap="square">
            <a:spAutoFit/>
          </a:bodyPr>
          <a:lstStyle/>
          <a:p>
            <a:pPr algn="l">
              <a:defRPr sz="1200" b="0">
                <a:solidFill>
                  <a:srgbClr val="10B981"/>
                </a:solidFill>
                <a:latin typeface="Calibri"/>
              </a:defRPr>
            </a:pPr>
            <a:r>
              <a:t>75K customers</a:t>
            </a:r>
          </a:p>
        </p:txBody>
      </p:sp>
      <p:sp>
        <p:nvSpPr>
          <p:cNvPr id="39" name="Rounded Rectangle 38"/>
          <p:cNvSpPr/>
          <p:nvPr/>
        </p:nvSpPr>
        <p:spPr>
          <a:xfrm>
            <a:off x="914400" y="5303520"/>
            <a:ext cx="1033272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97280" y="5367528"/>
            <a:ext cx="2743200" cy="320040"/>
          </a:xfrm>
          <a:prstGeom prst="rect">
            <a:avLst/>
          </a:prstGeom>
          <a:noFill/>
        </p:spPr>
        <p:txBody>
          <a:bodyPr wrap="square">
            <a:spAutoFit/>
          </a:bodyPr>
          <a:lstStyle/>
          <a:p>
            <a:pPr algn="l">
              <a:defRPr sz="1300" b="1">
                <a:solidFill>
                  <a:srgbClr val="FFFFFF"/>
                </a:solidFill>
                <a:latin typeface="Calibri"/>
              </a:defRPr>
            </a:pPr>
            <a:r>
              <a:t>Donate to Charity</a:t>
            </a:r>
          </a:p>
        </p:txBody>
      </p:sp>
      <p:sp>
        <p:nvSpPr>
          <p:cNvPr id="41" name="TextBox 40"/>
          <p:cNvSpPr txBox="1"/>
          <p:nvPr/>
        </p:nvSpPr>
        <p:spPr>
          <a:xfrm>
            <a:off x="3840480" y="5367528"/>
            <a:ext cx="1371600" cy="320040"/>
          </a:xfrm>
          <a:prstGeom prst="rect">
            <a:avLst/>
          </a:prstGeom>
          <a:noFill/>
        </p:spPr>
        <p:txBody>
          <a:bodyPr wrap="square">
            <a:spAutoFit/>
          </a:bodyPr>
          <a:lstStyle/>
          <a:p>
            <a:pPr algn="l">
              <a:defRPr sz="1200" b="0">
                <a:solidFill>
                  <a:srgbClr val="3B82F6"/>
                </a:solidFill>
                <a:latin typeface="Calibri"/>
              </a:defRPr>
            </a:pPr>
            <a:r>
              <a:t>SOCIAL</a:t>
            </a:r>
          </a:p>
        </p:txBody>
      </p:sp>
      <p:sp>
        <p:nvSpPr>
          <p:cNvPr id="42" name="TextBox 41"/>
          <p:cNvSpPr txBox="1"/>
          <p:nvPr/>
        </p:nvSpPr>
        <p:spPr>
          <a:xfrm>
            <a:off x="5303520" y="5367528"/>
            <a:ext cx="3657600" cy="320040"/>
          </a:xfrm>
          <a:prstGeom prst="rect">
            <a:avLst/>
          </a:prstGeom>
          <a:noFill/>
        </p:spPr>
        <p:txBody>
          <a:bodyPr wrap="square">
            <a:spAutoFit/>
          </a:bodyPr>
          <a:lstStyle/>
          <a:p>
            <a:pPr algn="l">
              <a:defRPr sz="1200" b="0">
                <a:solidFill>
                  <a:srgbClr val="CBD5E1"/>
                </a:solidFill>
                <a:latin typeface="Calibri"/>
              </a:defRPr>
            </a:pPr>
            <a:r>
              <a:t>Donate to verified charity</a:t>
            </a:r>
          </a:p>
        </p:txBody>
      </p:sp>
      <p:sp>
        <p:nvSpPr>
          <p:cNvPr id="43" name="TextBox 42"/>
          <p:cNvSpPr txBox="1"/>
          <p:nvPr/>
        </p:nvSpPr>
        <p:spPr>
          <a:xfrm>
            <a:off x="9144000" y="5367528"/>
            <a:ext cx="1828800" cy="320040"/>
          </a:xfrm>
          <a:prstGeom prst="rect">
            <a:avLst/>
          </a:prstGeom>
          <a:noFill/>
        </p:spPr>
        <p:txBody>
          <a:bodyPr wrap="square">
            <a:spAutoFit/>
          </a:bodyPr>
          <a:lstStyle/>
          <a:p>
            <a:pPr algn="l">
              <a:defRPr sz="1200" b="0">
                <a:solidFill>
                  <a:srgbClr val="10B981"/>
                </a:solidFill>
                <a:latin typeface="Calibri"/>
              </a:defRPr>
            </a:pPr>
            <a:r>
              <a:t>22K customers</a:t>
            </a:r>
          </a:p>
        </p:txBody>
      </p:sp>
      <p:sp>
        <p:nvSpPr>
          <p:cNvPr id="44" name="Rounded Rectangle 43"/>
          <p:cNvSpPr/>
          <p:nvPr/>
        </p:nvSpPr>
        <p:spPr>
          <a:xfrm>
            <a:off x="914400" y="5806440"/>
            <a:ext cx="10332720" cy="457200"/>
          </a:xfrm>
          <a:prstGeom prst="roundRect">
            <a:avLst/>
          </a:prstGeom>
          <a:solidFill>
            <a:srgbClr val="17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97280" y="5870448"/>
            <a:ext cx="2743200" cy="320040"/>
          </a:xfrm>
          <a:prstGeom prst="rect">
            <a:avLst/>
          </a:prstGeom>
          <a:noFill/>
        </p:spPr>
        <p:txBody>
          <a:bodyPr wrap="square">
            <a:spAutoFit/>
          </a:bodyPr>
          <a:lstStyle/>
          <a:p>
            <a:pPr algn="l">
              <a:defRPr sz="1300" b="1">
                <a:solidFill>
                  <a:srgbClr val="FFFFFF"/>
                </a:solidFill>
                <a:latin typeface="Calibri"/>
              </a:defRPr>
            </a:pPr>
            <a:r>
              <a:t>Green Financing</a:t>
            </a:r>
          </a:p>
        </p:txBody>
      </p:sp>
      <p:sp>
        <p:nvSpPr>
          <p:cNvPr id="46" name="TextBox 45"/>
          <p:cNvSpPr txBox="1"/>
          <p:nvPr/>
        </p:nvSpPr>
        <p:spPr>
          <a:xfrm>
            <a:off x="3840480" y="5870448"/>
            <a:ext cx="1371600" cy="320040"/>
          </a:xfrm>
          <a:prstGeom prst="rect">
            <a:avLst/>
          </a:prstGeom>
          <a:noFill/>
        </p:spPr>
        <p:txBody>
          <a:bodyPr wrap="square">
            <a:spAutoFit/>
          </a:bodyPr>
          <a:lstStyle/>
          <a:p>
            <a:pPr algn="l">
              <a:defRPr sz="1200" b="0">
                <a:solidFill>
                  <a:srgbClr val="3B82F6"/>
                </a:solidFill>
                <a:latin typeface="Calibri"/>
              </a:defRPr>
            </a:pPr>
            <a:r>
              <a:t>SOCIAL</a:t>
            </a:r>
          </a:p>
        </p:txBody>
      </p:sp>
      <p:sp>
        <p:nvSpPr>
          <p:cNvPr id="47" name="TextBox 46"/>
          <p:cNvSpPr txBox="1"/>
          <p:nvPr/>
        </p:nvSpPr>
        <p:spPr>
          <a:xfrm>
            <a:off x="5303520" y="5870448"/>
            <a:ext cx="3657600" cy="320040"/>
          </a:xfrm>
          <a:prstGeom prst="rect">
            <a:avLst/>
          </a:prstGeom>
          <a:noFill/>
        </p:spPr>
        <p:txBody>
          <a:bodyPr wrap="square">
            <a:spAutoFit/>
          </a:bodyPr>
          <a:lstStyle/>
          <a:p>
            <a:pPr algn="l">
              <a:defRPr sz="1200" b="0">
                <a:solidFill>
                  <a:srgbClr val="CBD5E1"/>
                </a:solidFill>
                <a:latin typeface="Calibri"/>
              </a:defRPr>
            </a:pPr>
            <a:r>
              <a:t>Finance a solar project</a:t>
            </a:r>
          </a:p>
        </p:txBody>
      </p:sp>
      <p:sp>
        <p:nvSpPr>
          <p:cNvPr id="48" name="TextBox 47"/>
          <p:cNvSpPr txBox="1"/>
          <p:nvPr/>
        </p:nvSpPr>
        <p:spPr>
          <a:xfrm>
            <a:off x="9144000" y="5870448"/>
            <a:ext cx="1828800" cy="320040"/>
          </a:xfrm>
          <a:prstGeom prst="rect">
            <a:avLst/>
          </a:prstGeom>
          <a:noFill/>
        </p:spPr>
        <p:txBody>
          <a:bodyPr wrap="square">
            <a:spAutoFit/>
          </a:bodyPr>
          <a:lstStyle/>
          <a:p>
            <a:pPr algn="l">
              <a:defRPr sz="1200" b="0">
                <a:solidFill>
                  <a:srgbClr val="10B981"/>
                </a:solidFill>
                <a:latin typeface="Calibri"/>
              </a:defRPr>
            </a:pPr>
            <a:r>
              <a:t>18K customers</a:t>
            </a:r>
          </a:p>
        </p:txBody>
      </p:sp>
      <p:sp>
        <p:nvSpPr>
          <p:cNvPr id="49" name="TextBox 48"/>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12 / 15</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457200"/>
            <a:ext cx="10058400" cy="548640"/>
          </a:xfrm>
          <a:prstGeom prst="rect">
            <a:avLst/>
          </a:prstGeom>
          <a:noFill/>
        </p:spPr>
        <p:txBody>
          <a:bodyPr wrap="square">
            <a:spAutoFit/>
          </a:bodyPr>
          <a:lstStyle/>
          <a:p>
            <a:pPr algn="l">
              <a:defRPr sz="1200" b="1">
                <a:solidFill>
                  <a:srgbClr val="3B82F6"/>
                </a:solidFill>
                <a:latin typeface="Calibri"/>
              </a:defRPr>
            </a:pPr>
            <a:r>
              <a:t>OPERATING MODEL</a:t>
            </a:r>
          </a:p>
        </p:txBody>
      </p:sp>
      <p:sp>
        <p:nvSpPr>
          <p:cNvPr id="3" name="TextBox 2"/>
          <p:cNvSpPr txBox="1"/>
          <p:nvPr/>
        </p:nvSpPr>
        <p:spPr>
          <a:xfrm>
            <a:off x="914400" y="914400"/>
            <a:ext cx="10058400" cy="731520"/>
          </a:xfrm>
          <a:prstGeom prst="rect">
            <a:avLst/>
          </a:prstGeom>
          <a:noFill/>
        </p:spPr>
        <p:txBody>
          <a:bodyPr wrap="square">
            <a:spAutoFit/>
          </a:bodyPr>
          <a:lstStyle/>
          <a:p>
            <a:pPr algn="l">
              <a:defRPr sz="3600" b="1">
                <a:solidFill>
                  <a:srgbClr val="FFFFFF"/>
                </a:solidFill>
                <a:latin typeface="Calibri"/>
              </a:defRPr>
            </a:pPr>
            <a:r>
              <a:t>Suggested Roles &amp; Responsibilities</a:t>
            </a:r>
          </a:p>
        </p:txBody>
      </p:sp>
      <p:sp>
        <p:nvSpPr>
          <p:cNvPr id="4" name="Rounded Rectangle 3"/>
          <p:cNvSpPr/>
          <p:nvPr/>
        </p:nvSpPr>
        <p:spPr>
          <a:xfrm>
            <a:off x="914400" y="2011680"/>
            <a:ext cx="10058400" cy="640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2103120"/>
            <a:ext cx="2743200" cy="457200"/>
          </a:xfrm>
          <a:prstGeom prst="rect">
            <a:avLst/>
          </a:prstGeom>
          <a:noFill/>
        </p:spPr>
        <p:txBody>
          <a:bodyPr wrap="square">
            <a:spAutoFit/>
          </a:bodyPr>
          <a:lstStyle/>
          <a:p>
            <a:pPr algn="l">
              <a:defRPr sz="1700" b="1">
                <a:solidFill>
                  <a:srgbClr val="3B82F6"/>
                </a:solidFill>
                <a:latin typeface="Calibri"/>
              </a:defRPr>
            </a:pPr>
            <a:r>
              <a:t>Campaign Manager</a:t>
            </a:r>
          </a:p>
        </p:txBody>
      </p:sp>
      <p:sp>
        <p:nvSpPr>
          <p:cNvPr id="6" name="TextBox 5"/>
          <p:cNvSpPr txBox="1"/>
          <p:nvPr/>
        </p:nvSpPr>
        <p:spPr>
          <a:xfrm>
            <a:off x="4114800" y="2148840"/>
            <a:ext cx="6400800" cy="365760"/>
          </a:xfrm>
          <a:prstGeom prst="rect">
            <a:avLst/>
          </a:prstGeom>
          <a:noFill/>
        </p:spPr>
        <p:txBody>
          <a:bodyPr wrap="square">
            <a:spAutoFit/>
          </a:bodyPr>
          <a:lstStyle/>
          <a:p>
            <a:pPr algn="l">
              <a:defRPr sz="1500" b="0">
                <a:solidFill>
                  <a:srgbClr val="CBD5E1"/>
                </a:solidFill>
                <a:latin typeface="Calibri"/>
              </a:defRPr>
            </a:pPr>
            <a:r>
              <a:t>Creates and manages quests day-to-day</a:t>
            </a:r>
          </a:p>
        </p:txBody>
      </p:sp>
      <p:sp>
        <p:nvSpPr>
          <p:cNvPr id="7" name="Rounded Rectangle 6"/>
          <p:cNvSpPr/>
          <p:nvPr/>
        </p:nvSpPr>
        <p:spPr>
          <a:xfrm>
            <a:off x="914400" y="2788920"/>
            <a:ext cx="10058400" cy="640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2880360"/>
            <a:ext cx="2743200" cy="457200"/>
          </a:xfrm>
          <a:prstGeom prst="rect">
            <a:avLst/>
          </a:prstGeom>
          <a:noFill/>
        </p:spPr>
        <p:txBody>
          <a:bodyPr wrap="square">
            <a:spAutoFit/>
          </a:bodyPr>
          <a:lstStyle/>
          <a:p>
            <a:pPr algn="l">
              <a:defRPr sz="1700" b="1">
                <a:solidFill>
                  <a:srgbClr val="3B82F6"/>
                </a:solidFill>
                <a:latin typeface="Calibri"/>
              </a:defRPr>
            </a:pPr>
            <a:r>
              <a:t>Product Owner</a:t>
            </a:r>
          </a:p>
        </p:txBody>
      </p:sp>
      <p:sp>
        <p:nvSpPr>
          <p:cNvPr id="9" name="TextBox 8"/>
          <p:cNvSpPr txBox="1"/>
          <p:nvPr/>
        </p:nvSpPr>
        <p:spPr>
          <a:xfrm>
            <a:off x="4114800" y="2926080"/>
            <a:ext cx="6400800" cy="365760"/>
          </a:xfrm>
          <a:prstGeom prst="rect">
            <a:avLst/>
          </a:prstGeom>
          <a:noFill/>
        </p:spPr>
        <p:txBody>
          <a:bodyPr wrap="square">
            <a:spAutoFit/>
          </a:bodyPr>
          <a:lstStyle/>
          <a:p>
            <a:pPr algn="l">
              <a:defRPr sz="1500" b="0">
                <a:solidFill>
                  <a:srgbClr val="CBD5E1"/>
                </a:solidFill>
                <a:latin typeface="Calibri"/>
              </a:defRPr>
            </a:pPr>
            <a:r>
              <a:t>Defines business objectives and target segments</a:t>
            </a:r>
          </a:p>
        </p:txBody>
      </p:sp>
      <p:sp>
        <p:nvSpPr>
          <p:cNvPr id="10" name="Rounded Rectangle 9"/>
          <p:cNvSpPr/>
          <p:nvPr/>
        </p:nvSpPr>
        <p:spPr>
          <a:xfrm>
            <a:off x="914400" y="3566160"/>
            <a:ext cx="10058400" cy="640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3657600"/>
            <a:ext cx="2743200" cy="457200"/>
          </a:xfrm>
          <a:prstGeom prst="rect">
            <a:avLst/>
          </a:prstGeom>
          <a:noFill/>
        </p:spPr>
        <p:txBody>
          <a:bodyPr wrap="square">
            <a:spAutoFit/>
          </a:bodyPr>
          <a:lstStyle/>
          <a:p>
            <a:pPr algn="l">
              <a:defRPr sz="1700" b="1">
                <a:solidFill>
                  <a:srgbClr val="3B82F6"/>
                </a:solidFill>
                <a:latin typeface="Calibri"/>
              </a:defRPr>
            </a:pPr>
            <a:r>
              <a:t>Risk Team</a:t>
            </a:r>
          </a:p>
        </p:txBody>
      </p:sp>
      <p:sp>
        <p:nvSpPr>
          <p:cNvPr id="12" name="TextBox 11"/>
          <p:cNvSpPr txBox="1"/>
          <p:nvPr/>
        </p:nvSpPr>
        <p:spPr>
          <a:xfrm>
            <a:off x="4114800" y="3703320"/>
            <a:ext cx="6400800" cy="365760"/>
          </a:xfrm>
          <a:prstGeom prst="rect">
            <a:avLst/>
          </a:prstGeom>
          <a:noFill/>
        </p:spPr>
        <p:txBody>
          <a:bodyPr wrap="square">
            <a:spAutoFit/>
          </a:bodyPr>
          <a:lstStyle/>
          <a:p>
            <a:pPr algn="l">
              <a:defRPr sz="1500" b="0">
                <a:solidFill>
                  <a:srgbClr val="CBD5E1"/>
                </a:solidFill>
                <a:latin typeface="Calibri"/>
              </a:defRPr>
            </a:pPr>
            <a:r>
              <a:t>Reviews risk quests and behaviour rules</a:t>
            </a:r>
          </a:p>
        </p:txBody>
      </p:sp>
      <p:sp>
        <p:nvSpPr>
          <p:cNvPr id="13" name="Rounded Rectangle 12"/>
          <p:cNvSpPr/>
          <p:nvPr/>
        </p:nvSpPr>
        <p:spPr>
          <a:xfrm>
            <a:off x="914400" y="4343400"/>
            <a:ext cx="10058400" cy="640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4434840"/>
            <a:ext cx="2743200" cy="457200"/>
          </a:xfrm>
          <a:prstGeom prst="rect">
            <a:avLst/>
          </a:prstGeom>
          <a:noFill/>
        </p:spPr>
        <p:txBody>
          <a:bodyPr wrap="square">
            <a:spAutoFit/>
          </a:bodyPr>
          <a:lstStyle/>
          <a:p>
            <a:pPr algn="l">
              <a:defRPr sz="1700" b="1">
                <a:solidFill>
                  <a:srgbClr val="3B82F6"/>
                </a:solidFill>
                <a:latin typeface="Calibri"/>
              </a:defRPr>
            </a:pPr>
            <a:r>
              <a:t>Compliance Team</a:t>
            </a:r>
          </a:p>
        </p:txBody>
      </p:sp>
      <p:sp>
        <p:nvSpPr>
          <p:cNvPr id="15" name="TextBox 14"/>
          <p:cNvSpPr txBox="1"/>
          <p:nvPr/>
        </p:nvSpPr>
        <p:spPr>
          <a:xfrm>
            <a:off x="4114800" y="4480560"/>
            <a:ext cx="6400800" cy="365760"/>
          </a:xfrm>
          <a:prstGeom prst="rect">
            <a:avLst/>
          </a:prstGeom>
          <a:noFill/>
        </p:spPr>
        <p:txBody>
          <a:bodyPr wrap="square">
            <a:spAutoFit/>
          </a:bodyPr>
          <a:lstStyle/>
          <a:p>
            <a:pPr algn="l">
              <a:defRPr sz="1500" b="0">
                <a:solidFill>
                  <a:srgbClr val="CBD5E1"/>
                </a:solidFill>
                <a:latin typeface="Calibri"/>
              </a:defRPr>
            </a:pPr>
            <a:r>
              <a:t>Reviews prize-linked campaign regulations</a:t>
            </a:r>
          </a:p>
        </p:txBody>
      </p:sp>
      <p:sp>
        <p:nvSpPr>
          <p:cNvPr id="16" name="Rounded Rectangle 15"/>
          <p:cNvSpPr/>
          <p:nvPr/>
        </p:nvSpPr>
        <p:spPr>
          <a:xfrm>
            <a:off x="914400" y="5120640"/>
            <a:ext cx="10058400" cy="640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5212079"/>
            <a:ext cx="2743200" cy="457200"/>
          </a:xfrm>
          <a:prstGeom prst="rect">
            <a:avLst/>
          </a:prstGeom>
          <a:noFill/>
        </p:spPr>
        <p:txBody>
          <a:bodyPr wrap="square">
            <a:spAutoFit/>
          </a:bodyPr>
          <a:lstStyle/>
          <a:p>
            <a:pPr algn="l">
              <a:defRPr sz="1700" b="1">
                <a:solidFill>
                  <a:srgbClr val="3B82F6"/>
                </a:solidFill>
                <a:latin typeface="Calibri"/>
              </a:defRPr>
            </a:pPr>
            <a:r>
              <a:t>Digital Team</a:t>
            </a:r>
          </a:p>
        </p:txBody>
      </p:sp>
      <p:sp>
        <p:nvSpPr>
          <p:cNvPr id="18" name="TextBox 17"/>
          <p:cNvSpPr txBox="1"/>
          <p:nvPr/>
        </p:nvSpPr>
        <p:spPr>
          <a:xfrm>
            <a:off x="4114800" y="5257800"/>
            <a:ext cx="6400800" cy="365760"/>
          </a:xfrm>
          <a:prstGeom prst="rect">
            <a:avLst/>
          </a:prstGeom>
          <a:noFill/>
        </p:spPr>
        <p:txBody>
          <a:bodyPr wrap="square">
            <a:spAutoFit/>
          </a:bodyPr>
          <a:lstStyle/>
          <a:p>
            <a:pPr algn="l">
              <a:defRPr sz="1500" b="0">
                <a:solidFill>
                  <a:srgbClr val="CBD5E1"/>
                </a:solidFill>
                <a:latin typeface="Calibri"/>
              </a:defRPr>
            </a:pPr>
            <a:r>
              <a:t>Publishes quests to mobile and web channels</a:t>
            </a:r>
          </a:p>
        </p:txBody>
      </p:sp>
      <p:sp>
        <p:nvSpPr>
          <p:cNvPr id="19" name="Rounded Rectangle 18"/>
          <p:cNvSpPr/>
          <p:nvPr/>
        </p:nvSpPr>
        <p:spPr>
          <a:xfrm>
            <a:off x="914400" y="5897880"/>
            <a:ext cx="10058400" cy="640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5989320"/>
            <a:ext cx="2743200" cy="457200"/>
          </a:xfrm>
          <a:prstGeom prst="rect">
            <a:avLst/>
          </a:prstGeom>
          <a:noFill/>
        </p:spPr>
        <p:txBody>
          <a:bodyPr wrap="square">
            <a:spAutoFit/>
          </a:bodyPr>
          <a:lstStyle/>
          <a:p>
            <a:pPr algn="l">
              <a:defRPr sz="1700" b="1">
                <a:solidFill>
                  <a:srgbClr val="3B82F6"/>
                </a:solidFill>
                <a:latin typeface="Calibri"/>
              </a:defRPr>
            </a:pPr>
            <a:r>
              <a:t>Management</a:t>
            </a:r>
          </a:p>
        </p:txBody>
      </p:sp>
      <p:sp>
        <p:nvSpPr>
          <p:cNvPr id="21" name="TextBox 20"/>
          <p:cNvSpPr txBox="1"/>
          <p:nvPr/>
        </p:nvSpPr>
        <p:spPr>
          <a:xfrm>
            <a:off x="4114800" y="6035040"/>
            <a:ext cx="6400800" cy="365760"/>
          </a:xfrm>
          <a:prstGeom prst="rect">
            <a:avLst/>
          </a:prstGeom>
          <a:noFill/>
        </p:spPr>
        <p:txBody>
          <a:bodyPr wrap="square">
            <a:spAutoFit/>
          </a:bodyPr>
          <a:lstStyle/>
          <a:p>
            <a:pPr algn="l">
              <a:defRPr sz="1500" b="0">
                <a:solidFill>
                  <a:srgbClr val="CBD5E1"/>
                </a:solidFill>
                <a:latin typeface="Calibri"/>
              </a:defRPr>
            </a:pPr>
            <a:r>
              <a:t>Reviews KPIs, ROI, and program performance</a:t>
            </a:r>
          </a:p>
        </p:txBody>
      </p:sp>
      <p:sp>
        <p:nvSpPr>
          <p:cNvPr id="22" name="TextBox 21"/>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13 / 15</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914400" y="1828800"/>
            <a:ext cx="731520" cy="5486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058400" cy="914400"/>
          </a:xfrm>
          <a:prstGeom prst="rect">
            <a:avLst/>
          </a:prstGeom>
          <a:noFill/>
        </p:spPr>
        <p:txBody>
          <a:bodyPr wrap="square">
            <a:spAutoFit/>
          </a:bodyPr>
          <a:lstStyle/>
          <a:p>
            <a:pPr algn="l">
              <a:defRPr sz="4200" b="1">
                <a:solidFill>
                  <a:srgbClr val="FFFFFF"/>
                </a:solidFill>
                <a:latin typeface="Calibri"/>
              </a:defRPr>
            </a:pPr>
            <a:r>
              <a:t>Summary</a:t>
            </a:r>
          </a:p>
        </p:txBody>
      </p:sp>
      <p:sp>
        <p:nvSpPr>
          <p:cNvPr id="4" name="TextBox 3"/>
          <p:cNvSpPr txBox="1"/>
          <p:nvPr/>
        </p:nvSpPr>
        <p:spPr>
          <a:xfrm>
            <a:off x="914400" y="3017520"/>
            <a:ext cx="8229600" cy="1097280"/>
          </a:xfrm>
          <a:prstGeom prst="rect">
            <a:avLst/>
          </a:prstGeom>
          <a:noFill/>
        </p:spPr>
        <p:txBody>
          <a:bodyPr wrap="square">
            <a:spAutoFit/>
          </a:bodyPr>
          <a:lstStyle/>
          <a:p>
            <a:pPr algn="l">
              <a:defRPr sz="1700" b="0">
                <a:solidFill>
                  <a:srgbClr val="CBD5E1"/>
                </a:solidFill>
                <a:latin typeface="Calibri"/>
              </a:defRPr>
            </a:pPr>
            <a:r>
              <a:t>This platform turns customer banking actions into structured campaigns with points, rewards, monitoring, and management reporting. It is a single dashboard for creating, scheduling, tracking, and analysing prize-linked quests across all digital channels.</a:t>
            </a:r>
          </a:p>
        </p:txBody>
      </p:sp>
      <p:sp>
        <p:nvSpPr>
          <p:cNvPr id="5" name="TextBox 4"/>
          <p:cNvSpPr txBox="1"/>
          <p:nvPr/>
        </p:nvSpPr>
        <p:spPr>
          <a:xfrm>
            <a:off x="914400" y="4389120"/>
            <a:ext cx="10058400" cy="457200"/>
          </a:xfrm>
          <a:prstGeom prst="rect">
            <a:avLst/>
          </a:prstGeom>
          <a:noFill/>
        </p:spPr>
        <p:txBody>
          <a:bodyPr wrap="square">
            <a:spAutoFit/>
          </a:bodyPr>
          <a:lstStyle/>
          <a:p>
            <a:pPr algn="l">
              <a:defRPr sz="2200" b="1">
                <a:solidFill>
                  <a:srgbClr val="3B82F6"/>
                </a:solidFill>
                <a:latin typeface="Calibri"/>
              </a:defRPr>
            </a:pPr>
            <a:r>
              <a:t>Next Steps</a:t>
            </a:r>
          </a:p>
        </p:txBody>
      </p:sp>
      <p:sp>
        <p:nvSpPr>
          <p:cNvPr id="6" name="TextBox 5"/>
          <p:cNvSpPr txBox="1"/>
          <p:nvPr/>
        </p:nvSpPr>
        <p:spPr>
          <a:xfrm>
            <a:off x="914400" y="4937760"/>
            <a:ext cx="9144000" cy="365760"/>
          </a:xfrm>
          <a:prstGeom prst="rect">
            <a:avLst/>
          </a:prstGeom>
          <a:noFill/>
        </p:spPr>
        <p:txBody>
          <a:bodyPr wrap="square">
            <a:spAutoFit/>
          </a:bodyPr>
          <a:lstStyle/>
          <a:p>
            <a:pPr algn="l">
              <a:defRPr sz="1600" b="0">
                <a:solidFill>
                  <a:srgbClr val="FFFFFF"/>
                </a:solidFill>
                <a:latin typeface="Calibri"/>
              </a:defRPr>
            </a:pPr>
            <a:r>
              <a:t>✓  Review prototype with stakeholders</a:t>
            </a:r>
          </a:p>
        </p:txBody>
      </p:sp>
      <p:sp>
        <p:nvSpPr>
          <p:cNvPr id="7" name="TextBox 6"/>
          <p:cNvSpPr txBox="1"/>
          <p:nvPr/>
        </p:nvSpPr>
        <p:spPr>
          <a:xfrm>
            <a:off x="914400" y="5349240"/>
            <a:ext cx="9144000" cy="365760"/>
          </a:xfrm>
          <a:prstGeom prst="rect">
            <a:avLst/>
          </a:prstGeom>
          <a:noFill/>
        </p:spPr>
        <p:txBody>
          <a:bodyPr wrap="square">
            <a:spAutoFit/>
          </a:bodyPr>
          <a:lstStyle/>
          <a:p>
            <a:pPr algn="l">
              <a:defRPr sz="1600" b="0">
                <a:solidFill>
                  <a:srgbClr val="FFFFFF"/>
                </a:solidFill>
                <a:latin typeface="Calibri"/>
              </a:defRPr>
            </a:pPr>
            <a:r>
              <a:t>✓  Prioritize production requirements</a:t>
            </a:r>
          </a:p>
        </p:txBody>
      </p:sp>
      <p:sp>
        <p:nvSpPr>
          <p:cNvPr id="8" name="TextBox 7"/>
          <p:cNvSpPr txBox="1"/>
          <p:nvPr/>
        </p:nvSpPr>
        <p:spPr>
          <a:xfrm>
            <a:off x="914400" y="5760720"/>
            <a:ext cx="9144000" cy="365760"/>
          </a:xfrm>
          <a:prstGeom prst="rect">
            <a:avLst/>
          </a:prstGeom>
          <a:noFill/>
        </p:spPr>
        <p:txBody>
          <a:bodyPr wrap="square">
            <a:spAutoFit/>
          </a:bodyPr>
          <a:lstStyle/>
          <a:p>
            <a:pPr algn="l">
              <a:defRPr sz="1600" b="0">
                <a:solidFill>
                  <a:srgbClr val="FFFFFF"/>
                </a:solidFill>
                <a:latin typeface="Calibri"/>
              </a:defRPr>
            </a:pPr>
            <a:r>
              <a:t>✓  Define integration scope with IT</a:t>
            </a:r>
          </a:p>
        </p:txBody>
      </p:sp>
      <p:sp>
        <p:nvSpPr>
          <p:cNvPr id="9" name="TextBox 8"/>
          <p:cNvSpPr txBox="1"/>
          <p:nvPr/>
        </p:nvSpPr>
        <p:spPr>
          <a:xfrm>
            <a:off x="914400" y="6172200"/>
            <a:ext cx="9144000" cy="365760"/>
          </a:xfrm>
          <a:prstGeom prst="rect">
            <a:avLst/>
          </a:prstGeom>
          <a:noFill/>
        </p:spPr>
        <p:txBody>
          <a:bodyPr wrap="square">
            <a:spAutoFit/>
          </a:bodyPr>
          <a:lstStyle/>
          <a:p>
            <a:pPr algn="l">
              <a:defRPr sz="1600" b="0">
                <a:solidFill>
                  <a:srgbClr val="FFFFFF"/>
                </a:solidFill>
                <a:latin typeface="Calibri"/>
              </a:defRPr>
            </a:pPr>
            <a:r>
              <a:t>✓  Plan pilot with one quest category</a:t>
            </a:r>
          </a:p>
        </p:txBody>
      </p:sp>
      <p:sp>
        <p:nvSpPr>
          <p:cNvPr id="11" name="TextBox 10"/>
          <p:cNvSpPr txBox="1"/>
          <p:nvPr/>
        </p:nvSpPr>
        <p:spPr>
          <a:xfrm>
            <a:off x="10515600" y="6400800"/>
            <a:ext cx="1371600" cy="365760"/>
          </a:xfrm>
          <a:prstGeom prst="rect">
            <a:avLst/>
          </a:prstGeom>
          <a:noFill/>
        </p:spPr>
        <p:txBody>
          <a:bodyPr wrap="square">
            <a:spAutoFit/>
          </a:bodyPr>
          <a:lstStyle/>
          <a:p>
            <a:pPr algn="r">
              <a:defRPr sz="1000" b="0">
                <a:solidFill>
                  <a:srgbClr val="64748B"/>
                </a:solidFill>
                <a:latin typeface="Calibri"/>
              </a:defRPr>
            </a:pPr>
            <a:r>
              <a:t>15 / 15</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1142</Words>
  <Application>Microsoft Office PowerPoint</Application>
  <PresentationFormat>Widescreen</PresentationFormat>
  <Paragraphs>216</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Microsoft account</cp:lastModifiedBy>
  <cp:revision>10</cp:revision>
  <dcterms:created xsi:type="dcterms:W3CDTF">2013-01-27T09:14:16Z</dcterms:created>
  <dcterms:modified xsi:type="dcterms:W3CDTF">2026-05-06T18:33:00Z</dcterms:modified>
  <cp:category/>
</cp:coreProperties>
</file>